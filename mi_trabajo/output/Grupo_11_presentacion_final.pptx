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5" r:id="rId19"/>
    <p:sldId id="27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rgbClr val="F2F2F2"/>
          </a:solidFill>
        </a:fill>
      </a:tcStyle>
    </a:wholeTbl>
    <a:band1H>
      <a:tcStyle>
        <a:tcBdr/>
        <a:fill>
          <a:solidFill>
            <a:srgbClr val="F7F7F7"/>
          </a:solidFill>
        </a:fill>
      </a:tcStyle>
    </a:band1H>
    <a:band2H>
      <a:tcStyle>
        <a:tcBdr/>
        <a:fill>
          <a:solidFill>
            <a:srgbClr val="FFFFFF"/>
          </a:solidFill>
        </a:fill>
      </a:tcStyle>
    </a:band2H>
    <a:band1V>
      <a:tcStyle>
        <a:tcBdr/>
        <a:fill>
          <a:solidFill>
            <a:srgbClr val="F7F7F7"/>
          </a:solidFill>
        </a:fill>
      </a:tcStyle>
    </a:band1V>
    <a:band2V>
      <a:tcStyle>
        <a:tcBdr/>
      </a:tcStyle>
    </a:band2V>
    <a:lastCol>
      <a:tcTxStyle b="on">
        <a:fontRef idx="minor">
          <a:prstClr val="black"/>
        </a:fontRef>
        <a:schemeClr val="lt1"/>
      </a:tcTxStyle>
      <a:tcStyle>
        <a:tcBdr/>
        <a:fill>
          <a:solidFill>
            <a:srgbClr val="404040"/>
          </a:solidFill>
        </a:fill>
      </a:tcStyle>
    </a:lastCol>
    <a:firstCol>
      <a:tcTxStyle b="on">
        <a:fontRef idx="minor">
          <a:prstClr val="black"/>
        </a:fontRef>
        <a:schemeClr val="lt1"/>
      </a:tcTxStyle>
      <a:tcStyle>
        <a:tcBdr/>
        <a:fill>
          <a:solidFill>
            <a:srgbClr val="404040"/>
          </a:solidFill>
        </a:fill>
      </a:tcStyle>
    </a:firstCol>
    <a:lastRow>
      <a:tcTxStyle b="on">
        <a:fontRef idx="minor">
          <a:prstClr val="black"/>
        </a:fontRef>
        <a:schemeClr val="lt1"/>
      </a:tcTxStyle>
      <a:tcStyle>
        <a:tcBdr>
          <a:top>
            <a:ln w="38100" cmpd="sng">
              <a:solidFill>
                <a:schemeClr val="lt1"/>
              </a:solidFill>
            </a:ln>
          </a:top>
        </a:tcBdr>
        <a:fill>
          <a:solidFill>
            <a:srgbClr val="404040"/>
          </a:solidFill>
        </a:fill>
      </a:tcStyle>
    </a:lastRow>
    <a:firstRow>
      <a:tcTxStyle b="on">
        <a:fontRef idx="minor">
          <a:prstClr val="black"/>
        </a:fontRef>
        <a:schemeClr val="lt1"/>
      </a:tcTxStyle>
      <a:tcStyle>
        <a:tcBdr>
          <a:bottom>
            <a:ln w="38100" cmpd="sng">
              <a:solidFill>
                <a:schemeClr val="lt1"/>
              </a:solidFill>
            </a:ln>
          </a:bottom>
        </a:tcBdr>
        <a:fill>
          <a:solidFill>
            <a:srgbClr val="2B2B2B"/>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ES"/>
          </a:p>
        </p:txBody>
      </p:sp>
      <p:sp>
        <p:nvSpPr>
          <p:cNvPr id="4" name="Marcador de fecha 3"/>
          <p:cNvSpPr>
            <a:spLocks noGrp="1"/>
          </p:cNvSpPr>
          <p:nvPr>
            <p:ph type="dt" sz="half" idx="10"/>
          </p:nvPr>
        </p:nvSpPr>
        <p:spPr/>
        <p:txBody>
          <a:bodyPr/>
          <a:lstStyle/>
          <a:p>
            <a:fld id="{CA1457ED-0495-46B2-BB76-17A20A077030}" type="datetimeFigureOut">
              <a:rPr lang="es-ES" smtClean="0"/>
              <a:t>24/06/2026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4116470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CA1457ED-0495-46B2-BB76-17A20A077030}" type="datetimeFigureOut">
              <a:rPr lang="es-ES" smtClean="0"/>
              <a:t>24/06/2026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3931600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CA1457ED-0495-46B2-BB76-17A20A077030}" type="datetimeFigureOut">
              <a:rPr lang="es-ES" smtClean="0"/>
              <a:t>24/06/2026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318414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CA1457ED-0495-46B2-BB76-17A20A077030}" type="datetimeFigureOut">
              <a:rPr lang="es-ES" smtClean="0"/>
              <a:t>24/06/2026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3784891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CA1457ED-0495-46B2-BB76-17A20A077030}" type="datetimeFigureOut">
              <a:rPr lang="es-ES" smtClean="0"/>
              <a:t>24/06/2026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872010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CA1457ED-0495-46B2-BB76-17A20A077030}" type="datetimeFigureOut">
              <a:rPr lang="es-ES" smtClean="0"/>
              <a:t>24/06/2026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308336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A1457ED-0495-46B2-BB76-17A20A077030}" type="datetimeFigureOut">
              <a:rPr lang="es-ES" smtClean="0"/>
              <a:t>24/06/2026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2226036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CA1457ED-0495-46B2-BB76-17A20A077030}" type="datetimeFigureOut">
              <a:rPr lang="es-ES" smtClean="0"/>
              <a:t>24/06/2026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4264117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CA1457ED-0495-46B2-BB76-17A20A077030}" type="datetimeFigureOut">
              <a:rPr lang="es-ES" smtClean="0"/>
              <a:t>24/06/2026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2637919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CA1457ED-0495-46B2-BB76-17A20A077030}" type="datetimeFigureOut">
              <a:rPr lang="es-ES" smtClean="0"/>
              <a:t>24/06/2026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171991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CA1457ED-0495-46B2-BB76-17A20A077030}" type="datetimeFigureOut">
              <a:rPr lang="es-ES" smtClean="0"/>
              <a:t>24/06/2026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5EDB95F4-E725-4833-9529-06FE92E3F87E}" type="slidenum">
              <a:rPr lang="es-ES" smtClean="0"/>
              <a:t>‹Nº›</a:t>
            </a:fld>
            <a:endParaRPr lang="es-ES"/>
          </a:p>
        </p:txBody>
      </p:sp>
    </p:spTree>
    <p:extLst>
      <p:ext uri="{BB962C8B-B14F-4D97-AF65-F5344CB8AC3E}">
        <p14:creationId xmlns:p14="http://schemas.microsoft.com/office/powerpoint/2010/main" val="220033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1457ED-0495-46B2-BB76-17A20A077030}" type="datetimeFigureOut">
              <a:rPr lang="es-ES" smtClean="0"/>
              <a:t>24/06/2026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DB95F4-E725-4833-9529-06FE92E3F87E}" type="slidenum">
              <a:rPr lang="es-ES" smtClean="0"/>
              <a:t>‹Nº›</a:t>
            </a:fld>
            <a:endParaRPr lang="es-ES"/>
          </a:p>
        </p:txBody>
      </p:sp>
    </p:spTree>
    <p:extLst>
      <p:ext uri="{BB962C8B-B14F-4D97-AF65-F5344CB8AC3E}">
        <p14:creationId xmlns:p14="http://schemas.microsoft.com/office/powerpoint/2010/main" val="1126426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38200" y="1676400"/>
            <a:ext cx="10515600" cy="1981200"/>
          </a:xfrm>
          <a:solidFill>
            <a:srgbClr val="FFFFFF"/>
          </a:solidFill>
        </p:spPr>
        <p:txBody>
          <a:bodyPr anchor="b">
            <a:normAutofit/>
          </a:bodyPr>
          <a:lstStyle/>
          <a:p>
            <a:pPr algn="l"/>
            <a:r>
              <a:rPr lang="es-ES" sz="3600" b="1" dirty="0" smtClean="0">
                <a:solidFill>
                  <a:srgbClr val="1A1A1A"/>
                </a:solidFill>
                <a:latin typeface="Cambria" panose="02040503050406030204" pitchFamily="18" charset="0"/>
                <a:cs typeface="Cambria" panose="02040503050406030204" pitchFamily="18" charset="0"/>
              </a:rPr>
              <a:t>Crecimiento con inclusión? El rol del desarrollo industrial en la desigualdad del ingreso (1970–2023)</a:t>
            </a:r>
            <a:endParaRPr lang="es-ES" sz="3600" b="1" dirty="0">
              <a:solidFill>
                <a:srgbClr val="1A1A1A"/>
              </a:solidFill>
              <a:latin typeface="Cambria" panose="02040503050406030204" pitchFamily="18" charset="0"/>
              <a:cs typeface="Cambria" panose="02040503050406030204" pitchFamily="18" charset="0"/>
            </a:endParaRPr>
          </a:p>
        </p:txBody>
      </p:sp>
      <p:sp>
        <p:nvSpPr>
          <p:cNvPr id="3" name="Subtítulo 2"/>
          <p:cNvSpPr>
            <a:spLocks noGrp="1"/>
          </p:cNvSpPr>
          <p:nvPr>
            <p:ph type="subTitle" idx="1"/>
          </p:nvPr>
        </p:nvSpPr>
        <p:spPr>
          <a:xfrm>
            <a:off x="838200" y="3886200"/>
            <a:ext cx="10515600" cy="1219200"/>
          </a:xfrm>
        </p:spPr>
        <p:txBody>
          <a:bodyPr>
            <a:normAutofit/>
          </a:bodyPr>
          <a:lstStyle/>
          <a:p>
            <a:pPr algn="l"/>
            <a:r>
              <a:rPr lang="es-ES" sz="1600" dirty="0" smtClean="0">
                <a:solidFill>
                  <a:srgbClr val="6E6E6E"/>
                </a:solidFill>
                <a:latin typeface="Calibri" panose="020F0502020204030204" pitchFamily="34" charset="0"/>
                <a:cs typeface="Calibri" panose="020F0502020204030204" pitchFamily="34" charset="0"/>
              </a:rPr>
              <a:t>Ciencia de Datos para Economía y Negocios</a:t>
            </a:r>
          </a:p>
          <a:p>
            <a:pPr algn="l"/>
            <a:r>
              <a:rPr lang="es-ES" sz="1600" dirty="0" smtClean="0">
                <a:solidFill>
                  <a:srgbClr val="6E6E6E"/>
                </a:solidFill>
                <a:latin typeface="Calibri" panose="020F0502020204030204" pitchFamily="34" charset="0"/>
                <a:cs typeface="Calibri" panose="020F0502020204030204" pitchFamily="34" charset="0"/>
              </a:rPr>
              <a:t>Grupo 11</a:t>
            </a:r>
          </a:p>
          <a:p>
            <a:pPr algn="l"/>
            <a:r>
              <a:rPr lang="es-ES" sz="1600" b="1" dirty="0" smtClean="0">
                <a:solidFill>
                  <a:srgbClr val="1A1A1A"/>
                </a:solidFill>
                <a:latin typeface="Calibri" panose="020F0502020204030204" pitchFamily="34" charset="0"/>
                <a:cs typeface="Calibri" panose="020F0502020204030204" pitchFamily="34" charset="0"/>
              </a:rPr>
              <a:t>Martín Flores (905761) · Luca Derosa (911165)</a:t>
            </a:r>
          </a:p>
        </p:txBody>
      </p:sp>
    </p:spTree>
    <p:extLst>
      <p:ext uri="{BB962C8B-B14F-4D97-AF65-F5344CB8AC3E}">
        <p14:creationId xmlns:p14="http://schemas.microsoft.com/office/powerpoint/2010/main" val="37354455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0"/>
            <a:ext cx="9144000" cy="1109663"/>
          </a:xfrm>
        </p:spPr>
        <p:txBody>
          <a:bodyPr>
            <a:normAutofit/>
          </a:bodyPr>
          <a:lstStyle/>
          <a:p>
            <a:r>
              <a:rPr lang="en-US" sz="3000" b="1" dirty="0" err="1" smtClean="0">
                <a:solidFill>
                  <a:srgbClr val="1A1A1A"/>
                </a:solidFill>
                <a:latin typeface="Cambria" panose="02040503050406030204" pitchFamily="18" charset="0"/>
                <a:cs typeface="Cambria" panose="02040503050406030204" pitchFamily="18" charset="0"/>
              </a:rPr>
              <a:t>Hipótesis</a:t>
            </a:r>
            <a:r>
              <a:rPr lang="en-US" sz="3000" b="1" dirty="0" smtClean="0">
                <a:solidFill>
                  <a:srgbClr val="1A1A1A"/>
                </a:solidFill>
                <a:latin typeface="Cambria" panose="02040503050406030204" pitchFamily="18" charset="0"/>
                <a:cs typeface="Cambria" panose="02040503050406030204" pitchFamily="18" charset="0"/>
              </a:rPr>
              <a:t> de </a:t>
            </a:r>
            <a:r>
              <a:rPr lang="en-US" sz="3000" b="1" dirty="0" err="1" smtClean="0">
                <a:solidFill>
                  <a:srgbClr val="1A1A1A"/>
                </a:solidFill>
                <a:latin typeface="Cambria" panose="02040503050406030204" pitchFamily="18" charset="0"/>
                <a:cs typeface="Cambria" panose="02040503050406030204" pitchFamily="18" charset="0"/>
              </a:rPr>
              <a:t>trabajo</a:t>
            </a:r>
            <a:endParaRPr lang="es-ES" sz="3000" b="1" dirty="0">
              <a:solidFill>
                <a:srgbClr val="1A1A1A"/>
              </a:solidFill>
              <a:latin typeface="Cambria" panose="02040503050406030204" pitchFamily="18" charset="0"/>
              <a:cs typeface="Cambria" panose="02040503050406030204" pitchFamily="18" charset="0"/>
            </a:endParaRPr>
          </a:p>
        </p:txBody>
      </p:sp>
      <p:sp>
        <p:nvSpPr>
          <p:cNvPr id="3" name="Subtítulo 2"/>
          <p:cNvSpPr>
            <a:spLocks noGrp="1"/>
          </p:cNvSpPr>
          <p:nvPr>
            <p:ph type="subTitle" idx="1"/>
          </p:nvPr>
        </p:nvSpPr>
        <p:spPr>
          <a:xfrm>
            <a:off x="1524000" y="2502999"/>
            <a:ext cx="9144000" cy="1655762"/>
          </a:xfrm>
        </p:spPr>
        <p:txBody>
          <a:bodyPr>
            <a:normAutofit fontScale="55000" lnSpcReduction="20000"/>
          </a:bodyPr>
          <a:lstStyle/>
          <a:p>
            <a:r>
              <a:rPr lang="es-ES" sz="3300" b="1" dirty="0" smtClean="0">
                <a:latin typeface="Calibri" panose="020F0502020204030204" pitchFamily="34" charset="0"/>
                <a:cs typeface="Calibri" panose="020F0502020204030204" pitchFamily="34" charset="0"/>
              </a:rPr>
              <a:t>Hipótesis principal (H1).</a:t>
            </a:r>
            <a:r>
              <a:rPr lang="es-ES" sz="3300" dirty="0" smtClean="0">
                <a:latin typeface="Calibri" panose="020F0502020204030204" pitchFamily="34" charset="0"/>
                <a:cs typeface="Calibri" panose="020F0502020204030204" pitchFamily="34" charset="0"/>
              </a:rPr>
              <a:t> Los países con mayor nivel de industrialización, medido por el PBI industrial per cápita en 2023, presentan un mayor crecimiento acumulado del PBI per cápita total durante el período 1970–2023, en comparación con los países menos industrializados.</a:t>
            </a:r>
          </a:p>
          <a:p>
            <a:r>
              <a:rPr lang="es-ES" sz="3300" b="1" dirty="0" smtClean="0">
                <a:latin typeface="Calibri" panose="020F0502020204030204" pitchFamily="34" charset="0"/>
                <a:cs typeface="Calibri" panose="020F0502020204030204" pitchFamily="34" charset="0"/>
              </a:rPr>
              <a:t>Hipótesis complementaria (H2).</a:t>
            </a:r>
            <a:r>
              <a:rPr lang="es-ES" sz="3300" dirty="0" smtClean="0">
                <a:latin typeface="Calibri" panose="020F0502020204030204" pitchFamily="34" charset="0"/>
                <a:cs typeface="Calibri" panose="020F0502020204030204" pitchFamily="34" charset="0"/>
              </a:rPr>
              <a:t> Los países con mayor nivel de industrialización presentan menores niveles de desigualdad del ingreso, medidos por el coeficiente de </a:t>
            </a:r>
            <a:r>
              <a:rPr lang="es-ES" sz="3300" dirty="0" err="1" smtClean="0">
                <a:latin typeface="Calibri" panose="020F0502020204030204" pitchFamily="34" charset="0"/>
                <a:cs typeface="Calibri" panose="020F0502020204030204" pitchFamily="34" charset="0"/>
              </a:rPr>
              <a:t>Gini</a:t>
            </a:r>
            <a:r>
              <a:rPr lang="es-ES" sz="3300" dirty="0" smtClean="0">
                <a:latin typeface="Calibri" panose="020F0502020204030204" pitchFamily="34" charset="0"/>
                <a:cs typeface="Calibri" panose="020F0502020204030204" pitchFamily="34" charset="0"/>
              </a:rPr>
              <a:t>, que los países menos industrializados, independientemente de la región geográfica.</a:t>
            </a:r>
          </a:p>
          <a:p>
            <a:endParaRPr lang="es-ES" dirty="0"/>
          </a:p>
        </p:txBody>
      </p:sp>
      <p:sp>
        <p:nvSpPr>
          <p:cNvPr id="4" name="CuadroTexto 3"/>
          <p:cNvSpPr txBox="1"/>
          <p:nvPr/>
        </p:nvSpPr>
        <p:spPr>
          <a:xfrm>
            <a:off x="1524000" y="5552097"/>
            <a:ext cx="9144000" cy="646331"/>
          </a:xfrm>
          <a:prstGeom prst="rect">
            <a:avLst/>
          </a:prstGeom>
          <a:noFill/>
        </p:spPr>
        <p:txBody>
          <a:bodyPr wrap="square" rtlCol="0">
            <a:spAutoFit/>
          </a:bodyPr>
          <a:lstStyle/>
          <a:p>
            <a:r>
              <a:rPr lang="en-US" dirty="0" smtClean="0">
                <a:latin typeface="Calibri" panose="020F0502020204030204" pitchFamily="34" charset="0"/>
                <a:cs typeface="Calibri" panose="020F0502020204030204" pitchFamily="34" charset="0"/>
              </a:rPr>
              <a:t>Panel de 15 </a:t>
            </a:r>
            <a:r>
              <a:rPr lang="en-US" dirty="0" err="1" smtClean="0">
                <a:latin typeface="Calibri" panose="020F0502020204030204" pitchFamily="34" charset="0"/>
                <a:cs typeface="Calibri" panose="020F0502020204030204" pitchFamily="34" charset="0"/>
              </a:rPr>
              <a:t>países</a:t>
            </a:r>
            <a:r>
              <a:rPr lang="en-US" dirty="0" smtClean="0">
                <a:latin typeface="Calibri" panose="020F0502020204030204" pitchFamily="34" charset="0"/>
                <a:cs typeface="Calibri" panose="020F0502020204030204" pitchFamily="34" charset="0"/>
              </a:rPr>
              <a:t>. </a:t>
            </a:r>
            <a:r>
              <a:rPr lang="en-US" dirty="0" err="1" smtClean="0">
                <a:latin typeface="Calibri" panose="020F0502020204030204" pitchFamily="34" charset="0"/>
                <a:cs typeface="Calibri" panose="020F0502020204030204" pitchFamily="34" charset="0"/>
              </a:rPr>
              <a:t>Período</a:t>
            </a:r>
            <a:r>
              <a:rPr lang="en-US" dirty="0" smtClean="0">
                <a:latin typeface="Calibri" panose="020F0502020204030204" pitchFamily="34" charset="0"/>
                <a:cs typeface="Calibri" panose="020F0502020204030204" pitchFamily="34" charset="0"/>
              </a:rPr>
              <a:t> 1970–2023.</a:t>
            </a:r>
          </a:p>
          <a:p>
            <a:r>
              <a:rPr lang="en-US" dirty="0" smtClean="0">
                <a:latin typeface="Calibri" panose="020F0502020204030204" pitchFamily="34" charset="0"/>
                <a:cs typeface="Calibri" panose="020F0502020204030204" pitchFamily="34" charset="0"/>
              </a:rPr>
              <a:t>Fuentes: </a:t>
            </a:r>
            <a:r>
              <a:rPr lang="en-US" dirty="0" err="1" smtClean="0">
                <a:latin typeface="Calibri" panose="020F0502020204030204" pitchFamily="34" charset="0"/>
                <a:cs typeface="Calibri" panose="020F0502020204030204" pitchFamily="34" charset="0"/>
              </a:rPr>
              <a:t>Argendata</a:t>
            </a:r>
            <a:r>
              <a:rPr lang="en-US" dirty="0" smtClean="0">
                <a:latin typeface="Calibri" panose="020F0502020204030204" pitchFamily="34" charset="0"/>
                <a:cs typeface="Calibri" panose="020F0502020204030204" pitchFamily="34" charset="0"/>
              </a:rPr>
              <a:t> (</a:t>
            </a:r>
            <a:r>
              <a:rPr lang="en-US" dirty="0" err="1" smtClean="0">
                <a:latin typeface="Calibri" panose="020F0502020204030204" pitchFamily="34" charset="0"/>
                <a:cs typeface="Calibri" panose="020F0502020204030204" pitchFamily="34" charset="0"/>
              </a:rPr>
              <a:t>Fundar</a:t>
            </a:r>
            <a:r>
              <a:rPr lang="en-US" dirty="0" smtClean="0">
                <a:latin typeface="Calibri" panose="020F0502020204030204" pitchFamily="34" charset="0"/>
                <a:cs typeface="Calibri" panose="020F0502020204030204" pitchFamily="34" charset="0"/>
              </a:rPr>
              <a:t>) y Banco Mundial (World Development Indicators).</a:t>
            </a:r>
            <a:endParaRPr lang="es-E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519831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3000" b="1" dirty="0" smtClean="0">
                <a:solidFill>
                  <a:srgbClr val="1A1A1A"/>
                </a:solidFill>
                <a:latin typeface="Cambria" panose="02040503050406030204" pitchFamily="18" charset="0"/>
                <a:cs typeface="Cambria" panose="02040503050406030204" pitchFamily="18" charset="0"/>
              </a:rPr>
              <a:t>Base de datos principal</a:t>
            </a:r>
            <a:endParaRPr lang="es-ES" sz="3000" b="1" dirty="0">
              <a:solidFill>
                <a:srgbClr val="1A1A1A"/>
              </a:solidFill>
              <a:latin typeface="Cambria" panose="02040503050406030204" pitchFamily="18" charset="0"/>
              <a:cs typeface="Cambria" panose="02040503050406030204" pitchFamily="18" charset="0"/>
            </a:endParaRPr>
          </a:p>
        </p:txBody>
      </p:sp>
      <p:sp>
        <p:nvSpPr>
          <p:cNvPr id="3" name="Marcador de contenido 2"/>
          <p:cNvSpPr>
            <a:spLocks noGrp="1"/>
          </p:cNvSpPr>
          <p:nvPr>
            <p:ph idx="1"/>
          </p:nvPr>
        </p:nvSpPr>
        <p:spPr>
          <a:xfrm>
            <a:off x="838200" y="1800000"/>
            <a:ext cx="10515600" cy="4351338"/>
          </a:xfrm>
        </p:spPr>
        <p:txBody>
          <a:bodyPr/>
          <a:lstStyle/>
          <a:p>
            <a:pPr marL="0" indent="0">
              <a:buNone/>
            </a:pPr>
            <a:r>
              <a:rPr lang="es-ES" sz="1800" b="1" dirty="0" smtClean="0">
                <a:latin typeface="Calibri" panose="020F0502020204030204" pitchFamily="34" charset="0"/>
                <a:cs typeface="Calibri" panose="020F0502020204030204" pitchFamily="34" charset="0"/>
              </a:rPr>
              <a:t>Base principal:</a:t>
            </a:r>
            <a:r>
              <a:rPr lang="es-ES" sz="1800" dirty="0" smtClean="0">
                <a:latin typeface="Calibri" panose="020F0502020204030204" pitchFamily="34" charset="0"/>
                <a:cs typeface="Calibri" panose="020F0502020204030204" pitchFamily="34" charset="0"/>
              </a:rPr>
              <a:t> </a:t>
            </a:r>
            <a:r>
              <a:rPr lang="es-ES" sz="1800" dirty="0" err="1" smtClean="0">
                <a:latin typeface="Calibri" panose="020F0502020204030204" pitchFamily="34" charset="0"/>
                <a:cs typeface="Calibri" panose="020F0502020204030204" pitchFamily="34" charset="0"/>
              </a:rPr>
              <a:t>World</a:t>
            </a:r>
            <a:r>
              <a:rPr lang="es-ES" sz="1800" dirty="0" smtClean="0">
                <a:latin typeface="Calibri" panose="020F0502020204030204" pitchFamily="34" charset="0"/>
                <a:cs typeface="Calibri" panose="020F0502020204030204" pitchFamily="34" charset="0"/>
              </a:rPr>
              <a:t> </a:t>
            </a:r>
            <a:r>
              <a:rPr lang="es-ES" sz="1800" dirty="0" err="1" smtClean="0">
                <a:latin typeface="Calibri" panose="020F0502020204030204" pitchFamily="34" charset="0"/>
                <a:cs typeface="Calibri" panose="020F0502020204030204" pitchFamily="34" charset="0"/>
              </a:rPr>
              <a:t>Development</a:t>
            </a:r>
            <a:r>
              <a:rPr lang="es-ES" sz="1800" dirty="0" smtClean="0">
                <a:latin typeface="Calibri" panose="020F0502020204030204" pitchFamily="34" charset="0"/>
                <a:cs typeface="Calibri" panose="020F0502020204030204" pitchFamily="34" charset="0"/>
              </a:rPr>
              <a:t> </a:t>
            </a:r>
            <a:r>
              <a:rPr lang="es-ES" sz="1800" dirty="0" err="1" smtClean="0">
                <a:latin typeface="Calibri" panose="020F0502020204030204" pitchFamily="34" charset="0"/>
                <a:cs typeface="Calibri" panose="020F0502020204030204" pitchFamily="34" charset="0"/>
              </a:rPr>
              <a:t>Indicators</a:t>
            </a:r>
            <a:r>
              <a:rPr lang="es-ES" sz="1800" dirty="0" smtClean="0">
                <a:latin typeface="Calibri" panose="020F0502020204030204" pitchFamily="34" charset="0"/>
                <a:cs typeface="Calibri" panose="020F0502020204030204" pitchFamily="34" charset="0"/>
              </a:rPr>
              <a:t> (Banco Mundial)</a:t>
            </a:r>
          </a:p>
          <a:p>
            <a:pPr marL="0" indent="0">
              <a:buNone/>
            </a:pPr>
            <a:r>
              <a:rPr lang="es-ES" sz="1800" b="1" dirty="0" smtClean="0">
                <a:latin typeface="Calibri" panose="020F0502020204030204" pitchFamily="34" charset="0"/>
                <a:cs typeface="Calibri" panose="020F0502020204030204" pitchFamily="34" charset="0"/>
              </a:rPr>
              <a:t>Unidad de observación: </a:t>
            </a:r>
            <a:r>
              <a:rPr lang="es-ES" sz="1800" dirty="0" smtClean="0">
                <a:latin typeface="Calibri" panose="020F0502020204030204" pitchFamily="34" charset="0"/>
                <a:cs typeface="Calibri" panose="020F0502020204030204" pitchFamily="34" charset="0"/>
              </a:rPr>
              <a:t>País y Año  en el periodo (1970-2023)</a:t>
            </a:r>
          </a:p>
          <a:p>
            <a:pPr marL="0" indent="0">
              <a:buNone/>
            </a:pPr>
            <a:r>
              <a:rPr lang="es-ES" sz="1800" b="1" dirty="0">
                <a:latin typeface="Calibri" panose="020F0502020204030204" pitchFamily="34" charset="0"/>
                <a:cs typeface="Calibri" panose="020F0502020204030204" pitchFamily="34" charset="0"/>
              </a:rPr>
              <a:t>D</a:t>
            </a:r>
            <a:r>
              <a:rPr lang="es-ES" sz="1800" b="1" dirty="0" smtClean="0">
                <a:latin typeface="Calibri" panose="020F0502020204030204" pitchFamily="34" charset="0"/>
                <a:cs typeface="Calibri" panose="020F0502020204030204" pitchFamily="34" charset="0"/>
              </a:rPr>
              <a:t>imensiones del panel:</a:t>
            </a:r>
            <a:r>
              <a:rPr lang="es-ES" sz="1800" dirty="0" smtClean="0">
                <a:latin typeface="Calibri" panose="020F0502020204030204" pitchFamily="34" charset="0"/>
                <a:cs typeface="Calibri" panose="020F0502020204030204" pitchFamily="34" charset="0"/>
              </a:rPr>
              <a:t> 810 observaciones y 11 variables, correspondientes a 15 países.</a:t>
            </a:r>
          </a:p>
          <a:p>
            <a:pPr marL="0" indent="0">
              <a:buNone/>
            </a:pPr>
            <a:r>
              <a:rPr lang="es-ES" sz="1800" b="1" dirty="0" smtClean="0">
                <a:latin typeface="Calibri" panose="020F0502020204030204" pitchFamily="34" charset="0"/>
                <a:cs typeface="Calibri" panose="020F0502020204030204" pitchFamily="34" charset="0"/>
              </a:rPr>
              <a:t>Limitación conocida:</a:t>
            </a:r>
            <a:r>
              <a:rPr lang="es-ES" sz="1800" dirty="0" smtClean="0">
                <a:latin typeface="Calibri" panose="020F0502020204030204" pitchFamily="34" charset="0"/>
                <a:cs typeface="Calibri" panose="020F0502020204030204" pitchFamily="34" charset="0"/>
              </a:rPr>
              <a:t> el coeficiente de </a:t>
            </a:r>
            <a:r>
              <a:rPr lang="es-ES" sz="1800" dirty="0" err="1" smtClean="0">
                <a:latin typeface="Calibri" panose="020F0502020204030204" pitchFamily="34" charset="0"/>
                <a:cs typeface="Calibri" panose="020F0502020204030204" pitchFamily="34" charset="0"/>
              </a:rPr>
              <a:t>Gini</a:t>
            </a:r>
            <a:r>
              <a:rPr lang="es-ES" sz="1800" dirty="0" smtClean="0">
                <a:latin typeface="Calibri" panose="020F0502020204030204" pitchFamily="34" charset="0"/>
                <a:cs typeface="Calibri" panose="020F0502020204030204" pitchFamily="34" charset="0"/>
              </a:rPr>
              <a:t> presenta una cobertura temporal incompleta, dado que no se releva todos los años en todos los países. Esta limitación se documenta con evidencia en la sección de datos faltantes.</a:t>
            </a:r>
          </a:p>
          <a:p>
            <a:pPr marL="0" indent="0">
              <a:buNone/>
            </a:pPr>
            <a:endParaRPr lang="es-ES" dirty="0"/>
          </a:p>
        </p:txBody>
      </p:sp>
    </p:spTree>
    <p:extLst>
      <p:ext uri="{BB962C8B-B14F-4D97-AF65-F5344CB8AC3E}">
        <p14:creationId xmlns:p14="http://schemas.microsoft.com/office/powerpoint/2010/main" val="1655787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66537" y="685967"/>
            <a:ext cx="10515600" cy="1325563"/>
          </a:xfrm>
        </p:spPr>
        <p:txBody>
          <a:bodyPr>
            <a:normAutofit/>
          </a:bodyPr>
          <a:lstStyle/>
          <a:p>
            <a:pPr algn="ctr"/>
            <a:r>
              <a:rPr lang="es-ES" sz="3000" b="1" dirty="0" smtClean="0">
                <a:solidFill>
                  <a:srgbClr val="1A1A1A"/>
                </a:solidFill>
                <a:latin typeface="Cambria" panose="02040503050406030204" pitchFamily="18" charset="0"/>
                <a:cs typeface="Cambria" panose="02040503050406030204" pitchFamily="18" charset="0"/>
              </a:rPr>
              <a:t>Variables utilizadas</a:t>
            </a:r>
            <a:endParaRPr lang="es-ES" sz="3000" b="1" dirty="0">
              <a:solidFill>
                <a:srgbClr val="1A1A1A"/>
              </a:solidFill>
              <a:latin typeface="Cambria" panose="02040503050406030204" pitchFamily="18" charset="0"/>
              <a:cs typeface="Cambria" panose="02040503050406030204" pitchFamily="18" charset="0"/>
            </a:endParaRPr>
          </a:p>
        </p:txBody>
      </p:sp>
      <p:graphicFrame>
        <p:nvGraphicFramePr>
          <p:cNvPr id="5" name="Tabla 4"/>
          <p:cNvGraphicFramePr>
            <a:graphicFrameLocks noGrp="1"/>
          </p:cNvGraphicFramePr>
          <p:nvPr>
            <p:extLst>
              <p:ext uri="{D42A27DB-BD31-4B8C-83A1-F6EECF244321}">
                <p14:modId xmlns:p14="http://schemas.microsoft.com/office/powerpoint/2010/main" val="2238175235"/>
              </p:ext>
            </p:extLst>
          </p:nvPr>
        </p:nvGraphicFramePr>
        <p:xfrm>
          <a:off x="2160337" y="2243666"/>
          <a:ext cx="8127999" cy="3205480"/>
        </p:xfrm>
        <a:graphic>
          <a:graphicData uri="http://schemas.openxmlformats.org/drawingml/2006/table">
            <a:tbl>
              <a:tblPr firstRow="1" bandRow="1">
                <a:tableStyleId>{073A0DAA-6AF3-43AB-8588-CEC1D06C72B9}</a:tableStyleId>
              </a:tblPr>
              <a:tblGrid>
                <a:gridCol w="2709333">
                  <a:extLst>
                    <a:ext uri="{9D8B030D-6E8A-4147-A177-3AD203B41FA5}">
                      <a16:colId xmlns:a16="http://schemas.microsoft.com/office/drawing/2014/main" val="3909463263"/>
                    </a:ext>
                  </a:extLst>
                </a:gridCol>
                <a:gridCol w="2709333">
                  <a:extLst>
                    <a:ext uri="{9D8B030D-6E8A-4147-A177-3AD203B41FA5}">
                      <a16:colId xmlns:a16="http://schemas.microsoft.com/office/drawing/2014/main" val="302345713"/>
                    </a:ext>
                  </a:extLst>
                </a:gridCol>
                <a:gridCol w="2709333">
                  <a:extLst>
                    <a:ext uri="{9D8B030D-6E8A-4147-A177-3AD203B41FA5}">
                      <a16:colId xmlns:a16="http://schemas.microsoft.com/office/drawing/2014/main" val="1102266952"/>
                    </a:ext>
                  </a:extLst>
                </a:gridCol>
              </a:tblGrid>
              <a:tr h="370840">
                <a:tc>
                  <a:txBody>
                    <a:bodyPr/>
                    <a:lstStyle/>
                    <a:p>
                      <a:r>
                        <a:rPr lang="es-ES" dirty="0" smtClean="0">
                          <a:latin typeface="Calibri" panose="020F0502020204030204" pitchFamily="34" charset="0"/>
                          <a:cs typeface="Calibri" panose="020F0502020204030204" pitchFamily="34" charset="0"/>
                        </a:rPr>
                        <a:t>Variables</a:t>
                      </a:r>
                      <a:r>
                        <a:rPr lang="es-ES" baseline="0" dirty="0" smtClean="0">
                          <a:latin typeface="Calibri" panose="020F0502020204030204" pitchFamily="34" charset="0"/>
                          <a:cs typeface="Calibri" panose="020F0502020204030204" pitchFamily="34" charset="0"/>
                        </a:rPr>
                        <a:t> </a:t>
                      </a:r>
                      <a:endParaRPr lang="es-ES" dirty="0">
                        <a:latin typeface="Calibri" panose="020F0502020204030204" pitchFamily="34" charset="0"/>
                        <a:cs typeface="Calibri" panose="020F0502020204030204" pitchFamily="34" charset="0"/>
                      </a:endParaRPr>
                    </a:p>
                  </a:txBody>
                  <a:tcPr/>
                </a:tc>
                <a:tc>
                  <a:txBody>
                    <a:bodyPr/>
                    <a:lstStyle/>
                    <a:p>
                      <a:r>
                        <a:rPr lang="es-ES" dirty="0" smtClean="0">
                          <a:latin typeface="Calibri" panose="020F0502020204030204" pitchFamily="34" charset="0"/>
                          <a:cs typeface="Calibri" panose="020F0502020204030204" pitchFamily="34" charset="0"/>
                        </a:rPr>
                        <a:t>Representación</a:t>
                      </a:r>
                      <a:r>
                        <a:rPr lang="es-ES" baseline="0" dirty="0" smtClean="0">
                          <a:latin typeface="Calibri" panose="020F0502020204030204" pitchFamily="34" charset="0"/>
                          <a:cs typeface="Calibri" panose="020F0502020204030204" pitchFamily="34" charset="0"/>
                        </a:rPr>
                        <a:t> </a:t>
                      </a:r>
                      <a:endParaRPr lang="es-ES" dirty="0">
                        <a:latin typeface="Calibri" panose="020F0502020204030204" pitchFamily="34" charset="0"/>
                        <a:cs typeface="Calibri" panose="020F0502020204030204" pitchFamily="34" charset="0"/>
                      </a:endParaRPr>
                    </a:p>
                  </a:txBody>
                  <a:tcPr/>
                </a:tc>
                <a:tc>
                  <a:txBody>
                    <a:bodyPr/>
                    <a:lstStyle/>
                    <a:p>
                      <a:r>
                        <a:rPr lang="es-ES" dirty="0" smtClean="0">
                          <a:latin typeface="Calibri" panose="020F0502020204030204" pitchFamily="34" charset="0"/>
                          <a:cs typeface="Calibri" panose="020F0502020204030204" pitchFamily="34" charset="0"/>
                        </a:rPr>
                        <a:t>Tipo</a:t>
                      </a:r>
                      <a:endParaRPr lang="es-E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91093558"/>
                  </a:ext>
                </a:extLst>
              </a:tr>
              <a:tr h="370840">
                <a:tc>
                  <a:txBody>
                    <a:bodyPr/>
                    <a:lstStyle/>
                    <a:p>
                      <a:r>
                        <a:rPr lang="es-ES" dirty="0" err="1" smtClean="0">
                          <a:latin typeface="Calibri" panose="020F0502020204030204" pitchFamily="34" charset="0"/>
                          <a:cs typeface="Calibri" panose="020F0502020204030204" pitchFamily="34" charset="0"/>
                        </a:rPr>
                        <a:t>Pbi_pc</a:t>
                      </a:r>
                      <a:endParaRPr lang="es-ES" dirty="0">
                        <a:latin typeface="Calibri" panose="020F0502020204030204" pitchFamily="34" charset="0"/>
                        <a:cs typeface="Calibri" panose="020F0502020204030204" pitchFamily="34" charset="0"/>
                      </a:endParaRPr>
                    </a:p>
                  </a:txBody>
                  <a:tcPr/>
                </a:tc>
                <a:tc>
                  <a:txBody>
                    <a:bodyPr/>
                    <a:lstStyle/>
                    <a:p>
                      <a:r>
                        <a:rPr lang="es-ES" dirty="0" smtClean="0">
                          <a:latin typeface="Calibri" panose="020F0502020204030204" pitchFamily="34" charset="0"/>
                          <a:cs typeface="Calibri" panose="020F0502020204030204" pitchFamily="34" charset="0"/>
                        </a:rPr>
                        <a:t>PBI per</a:t>
                      </a:r>
                      <a:r>
                        <a:rPr lang="es-ES" baseline="0" dirty="0" smtClean="0">
                          <a:latin typeface="Calibri" panose="020F0502020204030204" pitchFamily="34" charset="0"/>
                          <a:cs typeface="Calibri" panose="020F0502020204030204" pitchFamily="34" charset="0"/>
                        </a:rPr>
                        <a:t> cápita, en dólares constantes de 2015</a:t>
                      </a:r>
                      <a:endParaRPr lang="es-ES" dirty="0">
                        <a:latin typeface="Calibri" panose="020F0502020204030204" pitchFamily="34" charset="0"/>
                        <a:cs typeface="Calibri" panose="020F0502020204030204" pitchFamily="34" charset="0"/>
                      </a:endParaRPr>
                    </a:p>
                  </a:txBody>
                  <a:tcPr/>
                </a:tc>
                <a:tc>
                  <a:txBody>
                    <a:bodyPr/>
                    <a:lstStyle/>
                    <a:p>
                      <a:r>
                        <a:rPr lang="en-US" dirty="0" err="1" smtClean="0">
                          <a:latin typeface="Calibri" panose="020F0502020204030204" pitchFamily="34" charset="0"/>
                          <a:cs typeface="Calibri" panose="020F0502020204030204" pitchFamily="34" charset="0"/>
                        </a:rPr>
                        <a:t>Numérica</a:t>
                      </a:r>
                      <a:r>
                        <a:rPr lang="en-US" dirty="0" smtClean="0">
                          <a:latin typeface="Calibri" panose="020F0502020204030204" pitchFamily="34" charset="0"/>
                          <a:cs typeface="Calibri" panose="020F0502020204030204" pitchFamily="34" charset="0"/>
                        </a:rPr>
                        <a:t> continua</a:t>
                      </a:r>
                      <a:endParaRPr lang="es-E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832015049"/>
                  </a:ext>
                </a:extLst>
              </a:tr>
              <a:tr h="370840">
                <a:tc>
                  <a:txBody>
                    <a:bodyPr/>
                    <a:lstStyle/>
                    <a:p>
                      <a:r>
                        <a:rPr lang="es-ES" dirty="0" err="1" smtClean="0">
                          <a:latin typeface="Calibri" panose="020F0502020204030204" pitchFamily="34" charset="0"/>
                          <a:cs typeface="Calibri" panose="020F0502020204030204" pitchFamily="34" charset="0"/>
                        </a:rPr>
                        <a:t>coef_gini</a:t>
                      </a:r>
                      <a:endParaRPr lang="es-ES" dirty="0">
                        <a:latin typeface="Calibri" panose="020F0502020204030204" pitchFamily="34" charset="0"/>
                        <a:cs typeface="Calibri" panose="020F0502020204030204" pitchFamily="34" charset="0"/>
                      </a:endParaRPr>
                    </a:p>
                  </a:txBody>
                  <a:tcPr/>
                </a:tc>
                <a:tc>
                  <a:txBody>
                    <a:bodyPr/>
                    <a:lstStyle/>
                    <a:p>
                      <a:r>
                        <a:rPr lang="es-ES" dirty="0" smtClean="0">
                          <a:latin typeface="Calibri" panose="020F0502020204030204" pitchFamily="34" charset="0"/>
                          <a:cs typeface="Calibri" panose="020F0502020204030204" pitchFamily="34" charset="0"/>
                        </a:rPr>
                        <a:t>Coeficiente de</a:t>
                      </a:r>
                      <a:r>
                        <a:rPr lang="es-ES" baseline="0" dirty="0" smtClean="0">
                          <a:latin typeface="Calibri" panose="020F0502020204030204" pitchFamily="34" charset="0"/>
                          <a:cs typeface="Calibri" panose="020F0502020204030204" pitchFamily="34" charset="0"/>
                        </a:rPr>
                        <a:t> </a:t>
                      </a:r>
                      <a:r>
                        <a:rPr lang="es-ES" baseline="0" dirty="0" err="1" smtClean="0">
                          <a:latin typeface="Calibri" panose="020F0502020204030204" pitchFamily="34" charset="0"/>
                          <a:cs typeface="Calibri" panose="020F0502020204030204" pitchFamily="34" charset="0"/>
                        </a:rPr>
                        <a:t>Gini</a:t>
                      </a:r>
                      <a:r>
                        <a:rPr lang="es-ES" baseline="0" dirty="0" smtClean="0">
                          <a:latin typeface="Calibri" panose="020F0502020204030204" pitchFamily="34" charset="0"/>
                          <a:cs typeface="Calibri" panose="020F0502020204030204" pitchFamily="34" charset="0"/>
                        </a:rPr>
                        <a:t>, indicador de desigualdad del ingreso </a:t>
                      </a:r>
                      <a:endParaRPr lang="es-ES" dirty="0">
                        <a:latin typeface="Calibri" panose="020F0502020204030204" pitchFamily="34" charset="0"/>
                        <a:cs typeface="Calibri" panose="020F050202020403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latin typeface="Calibri" panose="020F0502020204030204" pitchFamily="34" charset="0"/>
                          <a:cs typeface="Calibri" panose="020F0502020204030204" pitchFamily="34" charset="0"/>
                        </a:rPr>
                        <a:t>Numérica</a:t>
                      </a:r>
                      <a:r>
                        <a:rPr lang="en-US" dirty="0" smtClean="0">
                          <a:latin typeface="Calibri" panose="020F0502020204030204" pitchFamily="34" charset="0"/>
                          <a:cs typeface="Calibri" panose="020F0502020204030204" pitchFamily="34" charset="0"/>
                        </a:rPr>
                        <a:t> continua</a:t>
                      </a:r>
                      <a:endParaRPr lang="es-ES" dirty="0" smtClean="0">
                        <a:latin typeface="Calibri" panose="020F0502020204030204" pitchFamily="34" charset="0"/>
                        <a:cs typeface="Calibri" panose="020F0502020204030204" pitchFamily="34" charset="0"/>
                      </a:endParaRPr>
                    </a:p>
                    <a:p>
                      <a:endParaRPr lang="es-E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950150011"/>
                  </a:ext>
                </a:extLst>
              </a:tr>
              <a:tr h="370840">
                <a:tc>
                  <a:txBody>
                    <a:bodyPr/>
                    <a:lstStyle/>
                    <a:p>
                      <a:r>
                        <a:rPr lang="es-ES" dirty="0" err="1" smtClean="0">
                          <a:latin typeface="Calibri" panose="020F0502020204030204" pitchFamily="34" charset="0"/>
                          <a:cs typeface="Calibri" panose="020F0502020204030204" pitchFamily="34" charset="0"/>
                        </a:rPr>
                        <a:t>poblacion</a:t>
                      </a:r>
                      <a:r>
                        <a:rPr lang="es-ES" baseline="0" dirty="0" smtClean="0">
                          <a:latin typeface="Calibri" panose="020F0502020204030204" pitchFamily="34" charset="0"/>
                          <a:cs typeface="Calibri" panose="020F0502020204030204" pitchFamily="34" charset="0"/>
                        </a:rPr>
                        <a:t> </a:t>
                      </a:r>
                      <a:endParaRPr lang="es-ES" dirty="0">
                        <a:latin typeface="Calibri" panose="020F0502020204030204" pitchFamily="34" charset="0"/>
                        <a:cs typeface="Calibri" panose="020F0502020204030204" pitchFamily="34" charset="0"/>
                      </a:endParaRPr>
                    </a:p>
                  </a:txBody>
                  <a:tcPr/>
                </a:tc>
                <a:tc>
                  <a:txBody>
                    <a:bodyPr/>
                    <a:lstStyle/>
                    <a:p>
                      <a:r>
                        <a:rPr lang="es-ES" dirty="0" err="1" smtClean="0">
                          <a:latin typeface="Calibri" panose="020F0502020204030204" pitchFamily="34" charset="0"/>
                          <a:cs typeface="Calibri" panose="020F0502020204030204" pitchFamily="34" charset="0"/>
                        </a:rPr>
                        <a:t>Poblacion</a:t>
                      </a:r>
                      <a:r>
                        <a:rPr lang="es-ES" dirty="0" smtClean="0">
                          <a:latin typeface="Calibri" panose="020F0502020204030204" pitchFamily="34" charset="0"/>
                          <a:cs typeface="Calibri" panose="020F0502020204030204" pitchFamily="34" charset="0"/>
                        </a:rPr>
                        <a:t> total del país </a:t>
                      </a:r>
                      <a:endParaRPr lang="es-ES" dirty="0">
                        <a:latin typeface="Calibri" panose="020F0502020204030204" pitchFamily="34" charset="0"/>
                        <a:cs typeface="Calibri" panose="020F050202020403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latin typeface="Calibri" panose="020F0502020204030204" pitchFamily="34" charset="0"/>
                          <a:cs typeface="Calibri" panose="020F0502020204030204" pitchFamily="34" charset="0"/>
                        </a:rPr>
                        <a:t>Numérica</a:t>
                      </a:r>
                      <a:r>
                        <a:rPr lang="en-US" dirty="0" smtClean="0">
                          <a:latin typeface="Calibri" panose="020F0502020204030204" pitchFamily="34" charset="0"/>
                          <a:cs typeface="Calibri" panose="020F0502020204030204" pitchFamily="34" charset="0"/>
                        </a:rPr>
                        <a:t> continua</a:t>
                      </a:r>
                      <a:endParaRPr lang="es-ES" dirty="0" smtClean="0">
                        <a:latin typeface="Calibri" panose="020F0502020204030204" pitchFamily="34" charset="0"/>
                        <a:cs typeface="Calibri" panose="020F0502020204030204" pitchFamily="34" charset="0"/>
                      </a:endParaRPr>
                    </a:p>
                    <a:p>
                      <a:endParaRPr lang="es-E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942074930"/>
                  </a:ext>
                </a:extLst>
              </a:tr>
              <a:tr h="370840">
                <a:tc>
                  <a:txBody>
                    <a:bodyPr/>
                    <a:lstStyle/>
                    <a:p>
                      <a:r>
                        <a:rPr lang="es-ES" dirty="0" err="1" smtClean="0">
                          <a:latin typeface="Calibri" panose="020F0502020204030204" pitchFamily="34" charset="0"/>
                          <a:cs typeface="Calibri" panose="020F0502020204030204" pitchFamily="34" charset="0"/>
                        </a:rPr>
                        <a:t>pbi_indust_pc_idx</a:t>
                      </a:r>
                      <a:endParaRPr lang="es-ES" dirty="0">
                        <a:latin typeface="Calibri" panose="020F0502020204030204" pitchFamily="34" charset="0"/>
                        <a:cs typeface="Calibri" panose="020F0502020204030204" pitchFamily="34" charset="0"/>
                      </a:endParaRPr>
                    </a:p>
                  </a:txBody>
                  <a:tcPr/>
                </a:tc>
                <a:tc>
                  <a:txBody>
                    <a:bodyPr/>
                    <a:lstStyle/>
                    <a:p>
                      <a:r>
                        <a:rPr lang="es-ES" dirty="0" smtClean="0">
                          <a:latin typeface="Calibri" panose="020F0502020204030204" pitchFamily="34" charset="0"/>
                          <a:cs typeface="Calibri" panose="020F0502020204030204" pitchFamily="34" charset="0"/>
                        </a:rPr>
                        <a:t>Índice</a:t>
                      </a:r>
                      <a:r>
                        <a:rPr lang="es-ES" baseline="0" dirty="0" smtClean="0">
                          <a:latin typeface="Calibri" panose="020F0502020204030204" pitchFamily="34" charset="0"/>
                          <a:cs typeface="Calibri" panose="020F0502020204030204" pitchFamily="34" charset="0"/>
                        </a:rPr>
                        <a:t> de PBI industrial per cápita </a:t>
                      </a:r>
                      <a:endParaRPr lang="es-ES" dirty="0">
                        <a:latin typeface="Calibri" panose="020F0502020204030204" pitchFamily="34" charset="0"/>
                        <a:cs typeface="Calibri" panose="020F050202020403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latin typeface="Calibri" panose="020F0502020204030204" pitchFamily="34" charset="0"/>
                          <a:cs typeface="Calibri" panose="020F0502020204030204" pitchFamily="34" charset="0"/>
                        </a:rPr>
                        <a:t>Numérica</a:t>
                      </a:r>
                      <a:r>
                        <a:rPr lang="en-US" dirty="0" smtClean="0">
                          <a:latin typeface="Calibri" panose="020F0502020204030204" pitchFamily="34" charset="0"/>
                          <a:cs typeface="Calibri" panose="020F0502020204030204" pitchFamily="34" charset="0"/>
                        </a:rPr>
                        <a:t> continua</a:t>
                      </a:r>
                      <a:endParaRPr lang="es-ES" dirty="0" smtClean="0">
                        <a:latin typeface="Calibri" panose="020F0502020204030204" pitchFamily="34" charset="0"/>
                        <a:cs typeface="Calibri" panose="020F0502020204030204" pitchFamily="34" charset="0"/>
                      </a:endParaRPr>
                    </a:p>
                    <a:p>
                      <a:endParaRPr lang="es-E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616778558"/>
                  </a:ext>
                </a:extLst>
              </a:tr>
            </a:tbl>
          </a:graphicData>
        </a:graphic>
      </p:graphicFrame>
    </p:spTree>
    <p:extLst>
      <p:ext uri="{BB962C8B-B14F-4D97-AF65-F5344CB8AC3E}">
        <p14:creationId xmlns:p14="http://schemas.microsoft.com/office/powerpoint/2010/main" val="218230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sz="3000" b="1" dirty="0">
                <a:solidFill>
                  <a:srgbClr val="1A1A1A"/>
                </a:solidFill>
                <a:latin typeface="Cambria" panose="02040503050406030204" pitchFamily="18" charset="0"/>
                <a:cs typeface="Cambria" panose="02040503050406030204" pitchFamily="18" charset="0"/>
              </a:rPr>
              <a:t>Base de </a:t>
            </a:r>
            <a:r>
              <a:rPr lang="es-ES" sz="3000" b="1" dirty="0" smtClean="0">
                <a:solidFill>
                  <a:srgbClr val="1A1A1A"/>
                </a:solidFill>
                <a:latin typeface="Cambria" panose="02040503050406030204" pitchFamily="18" charset="0"/>
                <a:cs typeface="Cambria" panose="02040503050406030204" pitchFamily="18" charset="0"/>
              </a:rPr>
              <a:t>datos auxiliar</a:t>
            </a:r>
            <a:r>
              <a:rPr lang="es-ES" dirty="0" smtClean="0">
                <a:solidFill>
                  <a:srgbClr val="1A1A1A"/>
                </a:solidFill>
                <a:latin typeface="Cambria" panose="02040503050406030204" pitchFamily="18" charset="0"/>
                <a:cs typeface="Cambria" panose="02040503050406030204" pitchFamily="18" charset="0"/>
              </a:rPr>
              <a:t> </a:t>
            </a:r>
            <a:endParaRPr lang="es-ES" dirty="0"/>
          </a:p>
        </p:txBody>
      </p:sp>
      <p:sp>
        <p:nvSpPr>
          <p:cNvPr id="3" name="Marcador de contenido 2"/>
          <p:cNvSpPr>
            <a:spLocks noGrp="1"/>
          </p:cNvSpPr>
          <p:nvPr>
            <p:ph idx="1"/>
          </p:nvPr>
        </p:nvSpPr>
        <p:spPr>
          <a:xfrm>
            <a:off x="838200" y="1800000"/>
            <a:ext cx="10515600" cy="3451348"/>
          </a:xfrm>
        </p:spPr>
        <p:txBody>
          <a:bodyPr>
            <a:normAutofit/>
          </a:bodyPr>
          <a:lstStyle/>
          <a:p>
            <a:pPr marL="0" indent="0">
              <a:buNone/>
            </a:pPr>
            <a:r>
              <a:rPr lang="es-ES" sz="1800" b="1" dirty="0" smtClean="0">
                <a:latin typeface="Calibri" panose="020F0502020204030204" pitchFamily="34" charset="0"/>
                <a:cs typeface="Calibri" panose="020F0502020204030204" pitchFamily="34" charset="0"/>
              </a:rPr>
              <a:t>Base secundaria:</a:t>
            </a:r>
            <a:r>
              <a:rPr lang="es-ES" sz="1800" dirty="0" smtClean="0">
                <a:latin typeface="Calibri" panose="020F0502020204030204" pitchFamily="34" charset="0"/>
                <a:cs typeface="Calibri" panose="020F0502020204030204" pitchFamily="34" charset="0"/>
              </a:rPr>
              <a:t> Fundar (web: </a:t>
            </a:r>
            <a:r>
              <a:rPr lang="es-ES" sz="1800" dirty="0" err="1" smtClean="0">
                <a:latin typeface="Calibri" panose="020F0502020204030204" pitchFamily="34" charset="0"/>
                <a:cs typeface="Calibri" panose="020F0502020204030204" pitchFamily="34" charset="0"/>
              </a:rPr>
              <a:t>Argendata</a:t>
            </a:r>
            <a:r>
              <a:rPr lang="es-ES" sz="1800" dirty="0" smtClean="0">
                <a:latin typeface="Calibri" panose="020F0502020204030204" pitchFamily="34" charset="0"/>
                <a:cs typeface="Calibri" panose="020F0502020204030204" pitchFamily="34" charset="0"/>
              </a:rPr>
              <a:t>) </a:t>
            </a:r>
          </a:p>
          <a:p>
            <a:pPr marL="0" indent="0">
              <a:buNone/>
            </a:pPr>
            <a:r>
              <a:rPr lang="es-ES" sz="1800" b="1" dirty="0" smtClean="0">
                <a:latin typeface="Calibri" panose="020F0502020204030204" pitchFamily="34" charset="0"/>
                <a:cs typeface="Calibri" panose="020F0502020204030204" pitchFamily="34" charset="0"/>
              </a:rPr>
              <a:t>Variable utilizada:</a:t>
            </a:r>
            <a:r>
              <a:rPr lang="es-ES" sz="1800" dirty="0" smtClean="0">
                <a:latin typeface="Calibri" panose="020F0502020204030204" pitchFamily="34" charset="0"/>
                <a:cs typeface="Calibri" panose="020F0502020204030204" pitchFamily="34" charset="0"/>
              </a:rPr>
              <a:t> índice de PBI industrial per cápita por país y año </a:t>
            </a:r>
          </a:p>
          <a:p>
            <a:pPr marL="0" indent="0">
              <a:buNone/>
            </a:pPr>
            <a:r>
              <a:rPr lang="es-ES" sz="1800" b="1" dirty="0" smtClean="0">
                <a:latin typeface="Calibri" panose="020F0502020204030204" pitchFamily="34" charset="0"/>
                <a:cs typeface="Calibri" panose="020F0502020204030204" pitchFamily="34" charset="0"/>
              </a:rPr>
              <a:t>Utilidad:</a:t>
            </a:r>
            <a:r>
              <a:rPr lang="es-ES" sz="1800" dirty="0" smtClean="0">
                <a:latin typeface="Calibri" panose="020F0502020204030204" pitchFamily="34" charset="0"/>
                <a:cs typeface="Calibri" panose="020F0502020204030204" pitchFamily="34" charset="0"/>
              </a:rPr>
              <a:t> esta base constituye, junto con la del Banco Mundial, una de las dos fuentes consolidadas en el panel. Se utilizó para incorporar la variable de industrialización mediante una unión por país y año, y como base para clasificar a los 15 países según su nivel de industrialización.</a:t>
            </a:r>
            <a:endParaRPr lang="es-E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9587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n-US" sz="3000" b="1" dirty="0">
                <a:solidFill>
                  <a:srgbClr val="1A1A1A"/>
                </a:solidFill>
                <a:latin typeface="Cambria" panose="02040503050406030204" pitchFamily="18" charset="0"/>
                <a:cs typeface="Cambria" panose="02040503050406030204" pitchFamily="18" charset="0"/>
              </a:rPr>
              <a:t>P</a:t>
            </a:r>
            <a:r>
              <a:rPr lang="en-US" sz="3000" b="1" dirty="0" smtClean="0">
                <a:solidFill>
                  <a:srgbClr val="1A1A1A"/>
                </a:solidFill>
                <a:latin typeface="Cambria" panose="02040503050406030204" pitchFamily="18" charset="0"/>
                <a:cs typeface="Cambria" panose="02040503050406030204" pitchFamily="18" charset="0"/>
              </a:rPr>
              <a:t>anel de </a:t>
            </a:r>
            <a:r>
              <a:rPr lang="en-US" sz="3000" b="1" dirty="0" err="1" smtClean="0">
                <a:solidFill>
                  <a:srgbClr val="1A1A1A"/>
                </a:solidFill>
                <a:latin typeface="Cambria" panose="02040503050406030204" pitchFamily="18" charset="0"/>
                <a:cs typeface="Cambria" panose="02040503050406030204" pitchFamily="18" charset="0"/>
              </a:rPr>
              <a:t>datos</a:t>
            </a:r>
            <a:endParaRPr lang="es-ES" sz="3000" b="1" dirty="0">
              <a:solidFill>
                <a:srgbClr val="1A1A1A"/>
              </a:solidFill>
              <a:latin typeface="Cambria" panose="02040503050406030204" pitchFamily="18" charset="0"/>
              <a:cs typeface="Cambria" panose="02040503050406030204" pitchFamily="18" charset="0"/>
            </a:endParaRPr>
          </a:p>
        </p:txBody>
      </p:sp>
      <p:sp>
        <p:nvSpPr>
          <p:cNvPr id="3" name="Marcador de contenido 2"/>
          <p:cNvSpPr>
            <a:spLocks noGrp="1"/>
          </p:cNvSpPr>
          <p:nvPr>
            <p:ph idx="1"/>
          </p:nvPr>
        </p:nvSpPr>
        <p:spPr>
          <a:xfrm>
            <a:off x="838200" y="1800000"/>
            <a:ext cx="10515600" cy="2505731"/>
          </a:xfrm>
        </p:spPr>
        <p:txBody>
          <a:bodyPr/>
          <a:lstStyle/>
          <a:p>
            <a:pPr marL="0" indent="0">
              <a:buNone/>
            </a:pPr>
            <a:r>
              <a:rPr lang="es-ES" sz="1800" dirty="0" smtClean="0">
                <a:latin typeface="Calibri" panose="020F0502020204030204" pitchFamily="34" charset="0"/>
                <a:cs typeface="Calibri" panose="020F0502020204030204" pitchFamily="34" charset="0"/>
              </a:rPr>
              <a:t>Antes de realizar la unión de las dos fuentes, se filtraron los 15 países seleccionados en cada una de ellas por separado, para evitar inconsistencias posteriores.</a:t>
            </a:r>
          </a:p>
          <a:p>
            <a:pPr marL="0" indent="0">
              <a:buNone/>
            </a:pPr>
            <a:r>
              <a:rPr lang="es-ES" sz="1800" dirty="0" smtClean="0">
                <a:latin typeface="Calibri" panose="020F0502020204030204" pitchFamily="34" charset="0"/>
                <a:cs typeface="Calibri" panose="020F0502020204030204" pitchFamily="34" charset="0"/>
              </a:rPr>
              <a:t>La unión (join) se realizó mediante las claves comunes país y año. El resultado obtenido de la unión son  15 países seleccionados cuentan con datos disponibles en ambas fuentes, conformando un panel completo de 810 observaciones país y año.</a:t>
            </a:r>
          </a:p>
          <a:p>
            <a:pPr marL="0" indent="0">
              <a:buNone/>
            </a:pPr>
            <a:endParaRPr lang="es-ES" dirty="0"/>
          </a:p>
        </p:txBody>
      </p:sp>
    </p:spTree>
    <p:extLst>
      <p:ext uri="{BB962C8B-B14F-4D97-AF65-F5344CB8AC3E}">
        <p14:creationId xmlns:p14="http://schemas.microsoft.com/office/powerpoint/2010/main" val="915961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n-US" sz="3000" b="1" dirty="0" err="1" smtClean="0">
                <a:solidFill>
                  <a:srgbClr val="1A1A1A"/>
                </a:solidFill>
                <a:latin typeface="Cambria" panose="02040503050406030204" pitchFamily="18" charset="0"/>
                <a:cs typeface="Cambria" panose="02040503050406030204" pitchFamily="18" charset="0"/>
              </a:rPr>
              <a:t>Estadísticas</a:t>
            </a:r>
            <a:r>
              <a:rPr lang="en-US" sz="3000" b="1" dirty="0" smtClean="0">
                <a:solidFill>
                  <a:srgbClr val="1A1A1A"/>
                </a:solidFill>
                <a:latin typeface="Cambria" panose="02040503050406030204" pitchFamily="18" charset="0"/>
                <a:cs typeface="Cambria" panose="02040503050406030204" pitchFamily="18" charset="0"/>
              </a:rPr>
              <a:t> </a:t>
            </a:r>
            <a:r>
              <a:rPr lang="en-US" sz="3000" b="1" dirty="0" err="1" smtClean="0">
                <a:solidFill>
                  <a:srgbClr val="1A1A1A"/>
                </a:solidFill>
                <a:latin typeface="Cambria" panose="02040503050406030204" pitchFamily="18" charset="0"/>
                <a:cs typeface="Cambria" panose="02040503050406030204" pitchFamily="18" charset="0"/>
              </a:rPr>
              <a:t>descriptivas</a:t>
            </a:r>
            <a:r>
              <a:rPr lang="en-US" sz="3000" b="1" dirty="0" smtClean="0">
                <a:solidFill>
                  <a:srgbClr val="1A1A1A"/>
                </a:solidFill>
                <a:latin typeface="Cambria" panose="02040503050406030204" pitchFamily="18" charset="0"/>
                <a:cs typeface="Cambria" panose="02040503050406030204" pitchFamily="18" charset="0"/>
              </a:rPr>
              <a:t> </a:t>
            </a:r>
            <a:r>
              <a:rPr lang="en-US" sz="3000" b="1" dirty="0" err="1" smtClean="0">
                <a:solidFill>
                  <a:srgbClr val="1A1A1A"/>
                </a:solidFill>
                <a:latin typeface="Cambria" panose="02040503050406030204" pitchFamily="18" charset="0"/>
                <a:cs typeface="Cambria" panose="02040503050406030204" pitchFamily="18" charset="0"/>
              </a:rPr>
              <a:t>generales</a:t>
            </a:r>
            <a:endParaRPr lang="es-ES" sz="3000" b="1" dirty="0">
              <a:solidFill>
                <a:srgbClr val="1A1A1A"/>
              </a:solidFill>
              <a:latin typeface="Cambria" panose="02040503050406030204" pitchFamily="18" charset="0"/>
              <a:cs typeface="Cambria" panose="02040503050406030204" pitchFamily="18" charset="0"/>
            </a:endParaRP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481680811"/>
              </p:ext>
            </p:extLst>
          </p:nvPr>
        </p:nvGraphicFramePr>
        <p:xfrm>
          <a:off x="1576062" y="1800000"/>
          <a:ext cx="9777740" cy="3195550"/>
        </p:xfrm>
        <a:graphic>
          <a:graphicData uri="http://schemas.openxmlformats.org/drawingml/2006/table">
            <a:tbl>
              <a:tblPr firstRow="1" bandRow="1">
                <a:tableStyleId>{073A0DAA-6AF3-43AB-8588-CEC1D06C72B9}</a:tableStyleId>
              </a:tblPr>
              <a:tblGrid>
                <a:gridCol w="1396820">
                  <a:extLst>
                    <a:ext uri="{9D8B030D-6E8A-4147-A177-3AD203B41FA5}">
                      <a16:colId xmlns:a16="http://schemas.microsoft.com/office/drawing/2014/main" val="3552762109"/>
                    </a:ext>
                  </a:extLst>
                </a:gridCol>
                <a:gridCol w="1396820">
                  <a:extLst>
                    <a:ext uri="{9D8B030D-6E8A-4147-A177-3AD203B41FA5}">
                      <a16:colId xmlns:a16="http://schemas.microsoft.com/office/drawing/2014/main" val="283580280"/>
                    </a:ext>
                  </a:extLst>
                </a:gridCol>
                <a:gridCol w="1396820">
                  <a:extLst>
                    <a:ext uri="{9D8B030D-6E8A-4147-A177-3AD203B41FA5}">
                      <a16:colId xmlns:a16="http://schemas.microsoft.com/office/drawing/2014/main" val="996190962"/>
                    </a:ext>
                  </a:extLst>
                </a:gridCol>
                <a:gridCol w="1396820">
                  <a:extLst>
                    <a:ext uri="{9D8B030D-6E8A-4147-A177-3AD203B41FA5}">
                      <a16:colId xmlns:a16="http://schemas.microsoft.com/office/drawing/2014/main" val="1376244845"/>
                    </a:ext>
                  </a:extLst>
                </a:gridCol>
                <a:gridCol w="1396820">
                  <a:extLst>
                    <a:ext uri="{9D8B030D-6E8A-4147-A177-3AD203B41FA5}">
                      <a16:colId xmlns:a16="http://schemas.microsoft.com/office/drawing/2014/main" val="4220901539"/>
                    </a:ext>
                  </a:extLst>
                </a:gridCol>
                <a:gridCol w="1396820">
                  <a:extLst>
                    <a:ext uri="{9D8B030D-6E8A-4147-A177-3AD203B41FA5}">
                      <a16:colId xmlns:a16="http://schemas.microsoft.com/office/drawing/2014/main" val="2521332358"/>
                    </a:ext>
                  </a:extLst>
                </a:gridCol>
                <a:gridCol w="1396820">
                  <a:extLst>
                    <a:ext uri="{9D8B030D-6E8A-4147-A177-3AD203B41FA5}">
                      <a16:colId xmlns:a16="http://schemas.microsoft.com/office/drawing/2014/main" val="3136326278"/>
                    </a:ext>
                  </a:extLst>
                </a:gridCol>
              </a:tblGrid>
              <a:tr h="820535">
                <a:tc>
                  <a:txBody>
                    <a:bodyPr/>
                    <a:lstStyle/>
                    <a:p>
                      <a:r>
                        <a:rPr lang="en-US" sz="1800" dirty="0">
                          <a:latin typeface="Calibri" panose="020F0502020204030204" pitchFamily="34" charset="0"/>
                          <a:cs typeface="Calibri" panose="020F0502020204030204" pitchFamily="34" charset="0"/>
                        </a:rPr>
                        <a:t>Variable</a:t>
                      </a:r>
                    </a:p>
                  </a:txBody>
                  <a:tcPr anchor="ctr"/>
                </a:tc>
                <a:tc>
                  <a:txBody>
                    <a:bodyPr/>
                    <a:lstStyle/>
                    <a:p>
                      <a:r>
                        <a:rPr lang="en-US" sz="1800" dirty="0" err="1">
                          <a:latin typeface="Calibri" panose="020F0502020204030204" pitchFamily="34" charset="0"/>
                          <a:cs typeface="Calibri" panose="020F0502020204030204" pitchFamily="34" charset="0"/>
                        </a:rPr>
                        <a:t>Observaciones</a:t>
                      </a:r>
                      <a:endParaRPr lang="en-US" sz="1800" dirty="0">
                        <a:latin typeface="Calibri" panose="020F0502020204030204" pitchFamily="34" charset="0"/>
                        <a:cs typeface="Calibri" panose="020F0502020204030204" pitchFamily="34" charset="0"/>
                      </a:endParaRPr>
                    </a:p>
                  </a:txBody>
                  <a:tcPr anchor="ctr"/>
                </a:tc>
                <a:tc>
                  <a:txBody>
                    <a:bodyPr/>
                    <a:lstStyle/>
                    <a:p>
                      <a:r>
                        <a:rPr lang="en-US" sz="1800" dirty="0">
                          <a:latin typeface="Calibri" panose="020F0502020204030204" pitchFamily="34" charset="0"/>
                          <a:cs typeface="Calibri" panose="020F0502020204030204" pitchFamily="34" charset="0"/>
                        </a:rPr>
                        <a:t>Media</a:t>
                      </a:r>
                    </a:p>
                  </a:txBody>
                  <a:tcPr anchor="ctr"/>
                </a:tc>
                <a:tc>
                  <a:txBody>
                    <a:bodyPr/>
                    <a:lstStyle/>
                    <a:p>
                      <a:r>
                        <a:rPr lang="en-US" sz="1800">
                          <a:latin typeface="Calibri" panose="020F0502020204030204" pitchFamily="34" charset="0"/>
                          <a:cs typeface="Calibri" panose="020F0502020204030204" pitchFamily="34" charset="0"/>
                        </a:rPr>
                        <a:t>Mediana</a:t>
                      </a:r>
                    </a:p>
                  </a:txBody>
                  <a:tcPr anchor="ctr"/>
                </a:tc>
                <a:tc>
                  <a:txBody>
                    <a:bodyPr/>
                    <a:lstStyle/>
                    <a:p>
                      <a:r>
                        <a:rPr lang="en-US" sz="1800">
                          <a:latin typeface="Calibri" panose="020F0502020204030204" pitchFamily="34" charset="0"/>
                          <a:cs typeface="Calibri" panose="020F0502020204030204" pitchFamily="34" charset="0"/>
                        </a:rPr>
                        <a:t>Desvío estándar</a:t>
                      </a:r>
                    </a:p>
                  </a:txBody>
                  <a:tcPr anchor="ctr"/>
                </a:tc>
                <a:tc>
                  <a:txBody>
                    <a:bodyPr/>
                    <a:lstStyle/>
                    <a:p>
                      <a:r>
                        <a:rPr lang="en-US" sz="1800">
                          <a:latin typeface="Calibri" panose="020F0502020204030204" pitchFamily="34" charset="0"/>
                          <a:cs typeface="Calibri" panose="020F0502020204030204" pitchFamily="34" charset="0"/>
                        </a:rPr>
                        <a:t>Mínimo</a:t>
                      </a:r>
                    </a:p>
                  </a:txBody>
                  <a:tcPr anchor="ctr"/>
                </a:tc>
                <a:tc>
                  <a:txBody>
                    <a:bodyPr/>
                    <a:lstStyle/>
                    <a:p>
                      <a:r>
                        <a:rPr lang="en-US" sz="1800">
                          <a:latin typeface="Calibri" panose="020F0502020204030204" pitchFamily="34" charset="0"/>
                          <a:cs typeface="Calibri" panose="020F0502020204030204" pitchFamily="34" charset="0"/>
                        </a:rPr>
                        <a:t>Máximo</a:t>
                      </a:r>
                    </a:p>
                  </a:txBody>
                  <a:tcPr anchor="ctr"/>
                </a:tc>
                <a:extLst>
                  <a:ext uri="{0D108BD9-81ED-4DB2-BD59-A6C34878D82A}">
                    <a16:rowId xmlns:a16="http://schemas.microsoft.com/office/drawing/2014/main" val="1895771223"/>
                  </a:ext>
                </a:extLst>
              </a:tr>
              <a:tr h="820535">
                <a:tc>
                  <a:txBody>
                    <a:bodyPr/>
                    <a:lstStyle/>
                    <a:p>
                      <a:r>
                        <a:rPr lang="en-US" sz="1800" dirty="0" err="1">
                          <a:latin typeface="Calibri" panose="020F0502020204030204" pitchFamily="34" charset="0"/>
                          <a:cs typeface="Calibri" panose="020F0502020204030204" pitchFamily="34" charset="0"/>
                        </a:rPr>
                        <a:t>Coeficiente</a:t>
                      </a:r>
                      <a:r>
                        <a:rPr lang="en-US" sz="1800" dirty="0">
                          <a:latin typeface="Calibri" panose="020F0502020204030204" pitchFamily="34" charset="0"/>
                          <a:cs typeface="Calibri" panose="020F0502020204030204" pitchFamily="34" charset="0"/>
                        </a:rPr>
                        <a:t> de Gini</a:t>
                      </a:r>
                    </a:p>
                  </a:txBody>
                  <a:tcPr anchor="ctr"/>
                </a:tc>
                <a:tc>
                  <a:txBody>
                    <a:bodyPr/>
                    <a:lstStyle/>
                    <a:p>
                      <a:r>
                        <a:rPr lang="en-US" sz="1800">
                          <a:latin typeface="Calibri" panose="020F0502020204030204" pitchFamily="34" charset="0"/>
                          <a:cs typeface="Calibri" panose="020F0502020204030204" pitchFamily="34" charset="0"/>
                        </a:rPr>
                        <a:t>9</a:t>
                      </a:r>
                    </a:p>
                  </a:txBody>
                  <a:tcPr anchor="ctr"/>
                </a:tc>
                <a:tc>
                  <a:txBody>
                    <a:bodyPr/>
                    <a:lstStyle/>
                    <a:p>
                      <a:r>
                        <a:rPr lang="en-US" sz="1800">
                          <a:latin typeface="Calibri" panose="020F0502020204030204" pitchFamily="34" charset="0"/>
                          <a:cs typeface="Calibri" panose="020F0502020204030204" pitchFamily="34" charset="0"/>
                        </a:rPr>
                        <a:t>42,4</a:t>
                      </a:r>
                    </a:p>
                  </a:txBody>
                  <a:tcPr anchor="ctr"/>
                </a:tc>
                <a:tc>
                  <a:txBody>
                    <a:bodyPr/>
                    <a:lstStyle/>
                    <a:p>
                      <a:r>
                        <a:rPr lang="en-US" sz="1800" dirty="0">
                          <a:latin typeface="Calibri" panose="020F0502020204030204" pitchFamily="34" charset="0"/>
                          <a:cs typeface="Calibri" panose="020F0502020204030204" pitchFamily="34" charset="0"/>
                        </a:rPr>
                        <a:t>42,4</a:t>
                      </a:r>
                    </a:p>
                  </a:txBody>
                  <a:tcPr anchor="ctr"/>
                </a:tc>
                <a:tc>
                  <a:txBody>
                    <a:bodyPr/>
                    <a:lstStyle/>
                    <a:p>
                      <a:r>
                        <a:rPr lang="en-US" sz="1800" dirty="0">
                          <a:latin typeface="Calibri" panose="020F0502020204030204" pitchFamily="34" charset="0"/>
                          <a:cs typeface="Calibri" panose="020F0502020204030204" pitchFamily="34" charset="0"/>
                        </a:rPr>
                        <a:t>7,8</a:t>
                      </a:r>
                    </a:p>
                  </a:txBody>
                  <a:tcPr anchor="ctr"/>
                </a:tc>
                <a:tc>
                  <a:txBody>
                    <a:bodyPr/>
                    <a:lstStyle/>
                    <a:p>
                      <a:r>
                        <a:rPr lang="en-US" sz="1800" dirty="0">
                          <a:latin typeface="Calibri" panose="020F0502020204030204" pitchFamily="34" charset="0"/>
                          <a:cs typeface="Calibri" panose="020F0502020204030204" pitchFamily="34" charset="0"/>
                        </a:rPr>
                        <a:t>31,8</a:t>
                      </a:r>
                    </a:p>
                  </a:txBody>
                  <a:tcPr anchor="ctr"/>
                </a:tc>
                <a:tc>
                  <a:txBody>
                    <a:bodyPr/>
                    <a:lstStyle/>
                    <a:p>
                      <a:r>
                        <a:rPr lang="en-US" sz="1800">
                          <a:latin typeface="Calibri" panose="020F0502020204030204" pitchFamily="34" charset="0"/>
                          <a:cs typeface="Calibri" panose="020F0502020204030204" pitchFamily="34" charset="0"/>
                        </a:rPr>
                        <a:t>54,6</a:t>
                      </a:r>
                    </a:p>
                  </a:txBody>
                  <a:tcPr anchor="ctr"/>
                </a:tc>
                <a:extLst>
                  <a:ext uri="{0D108BD9-81ED-4DB2-BD59-A6C34878D82A}">
                    <a16:rowId xmlns:a16="http://schemas.microsoft.com/office/drawing/2014/main" val="3723859884"/>
                  </a:ext>
                </a:extLst>
              </a:tr>
              <a:tr h="820535">
                <a:tc>
                  <a:txBody>
                    <a:bodyPr/>
                    <a:lstStyle/>
                    <a:p>
                      <a:r>
                        <a:rPr lang="en-US" sz="1800">
                          <a:latin typeface="Calibri" panose="020F0502020204030204" pitchFamily="34" charset="0"/>
                          <a:cs typeface="Calibri" panose="020F0502020204030204" pitchFamily="34" charset="0"/>
                        </a:rPr>
                        <a:t>PBI industrial per cápita</a:t>
                      </a:r>
                    </a:p>
                  </a:txBody>
                  <a:tcPr anchor="ctr"/>
                </a:tc>
                <a:tc>
                  <a:txBody>
                    <a:bodyPr/>
                    <a:lstStyle/>
                    <a:p>
                      <a:r>
                        <a:rPr lang="en-US" sz="1800">
                          <a:latin typeface="Calibri" panose="020F0502020204030204" pitchFamily="34" charset="0"/>
                          <a:cs typeface="Calibri" panose="020F0502020204030204" pitchFamily="34" charset="0"/>
                        </a:rPr>
                        <a:t>15</a:t>
                      </a:r>
                    </a:p>
                  </a:txBody>
                  <a:tcPr anchor="ctr"/>
                </a:tc>
                <a:tc>
                  <a:txBody>
                    <a:bodyPr/>
                    <a:lstStyle/>
                    <a:p>
                      <a:r>
                        <a:rPr lang="en-US" sz="1800">
                          <a:latin typeface="Calibri" panose="020F0502020204030204" pitchFamily="34" charset="0"/>
                          <a:cs typeface="Calibri" panose="020F0502020204030204" pitchFamily="34" charset="0"/>
                        </a:rPr>
                        <a:t>3.545</a:t>
                      </a:r>
                    </a:p>
                  </a:txBody>
                  <a:tcPr anchor="ctr"/>
                </a:tc>
                <a:tc>
                  <a:txBody>
                    <a:bodyPr/>
                    <a:lstStyle/>
                    <a:p>
                      <a:r>
                        <a:rPr lang="en-US" sz="1800">
                          <a:latin typeface="Calibri" panose="020F0502020204030204" pitchFamily="34" charset="0"/>
                          <a:cs typeface="Calibri" panose="020F0502020204030204" pitchFamily="34" charset="0"/>
                        </a:rPr>
                        <a:t>2.609</a:t>
                      </a:r>
                    </a:p>
                  </a:txBody>
                  <a:tcPr anchor="ctr"/>
                </a:tc>
                <a:tc>
                  <a:txBody>
                    <a:bodyPr/>
                    <a:lstStyle/>
                    <a:p>
                      <a:r>
                        <a:rPr lang="en-US" sz="1800">
                          <a:latin typeface="Calibri" panose="020F0502020204030204" pitchFamily="34" charset="0"/>
                          <a:cs typeface="Calibri" panose="020F0502020204030204" pitchFamily="34" charset="0"/>
                        </a:rPr>
                        <a:t>2.852</a:t>
                      </a:r>
                    </a:p>
                  </a:txBody>
                  <a:tcPr anchor="ctr"/>
                </a:tc>
                <a:tc>
                  <a:txBody>
                    <a:bodyPr/>
                    <a:lstStyle/>
                    <a:p>
                      <a:r>
                        <a:rPr lang="en-US" sz="1800" dirty="0">
                          <a:latin typeface="Calibri" panose="020F0502020204030204" pitchFamily="34" charset="0"/>
                          <a:cs typeface="Calibri" panose="020F0502020204030204" pitchFamily="34" charset="0"/>
                        </a:rPr>
                        <a:t>818</a:t>
                      </a:r>
                    </a:p>
                  </a:txBody>
                  <a:tcPr anchor="ctr"/>
                </a:tc>
                <a:tc>
                  <a:txBody>
                    <a:bodyPr/>
                    <a:lstStyle/>
                    <a:p>
                      <a:r>
                        <a:rPr lang="en-US" sz="1800">
                          <a:latin typeface="Calibri" panose="020F0502020204030204" pitchFamily="34" charset="0"/>
                          <a:cs typeface="Calibri" panose="020F0502020204030204" pitchFamily="34" charset="0"/>
                        </a:rPr>
                        <a:t>9.949</a:t>
                      </a:r>
                    </a:p>
                  </a:txBody>
                  <a:tcPr anchor="ctr"/>
                </a:tc>
                <a:extLst>
                  <a:ext uri="{0D108BD9-81ED-4DB2-BD59-A6C34878D82A}">
                    <a16:rowId xmlns:a16="http://schemas.microsoft.com/office/drawing/2014/main" val="1406623733"/>
                  </a:ext>
                </a:extLst>
              </a:tr>
              <a:tr h="468877">
                <a:tc>
                  <a:txBody>
                    <a:bodyPr/>
                    <a:lstStyle/>
                    <a:p>
                      <a:r>
                        <a:rPr lang="en-US" sz="1800">
                          <a:latin typeface="Calibri" panose="020F0502020204030204" pitchFamily="34" charset="0"/>
                          <a:cs typeface="Calibri" panose="020F0502020204030204" pitchFamily="34" charset="0"/>
                        </a:rPr>
                        <a:t>PBI per cápita</a:t>
                      </a:r>
                    </a:p>
                  </a:txBody>
                  <a:tcPr anchor="ctr"/>
                </a:tc>
                <a:tc>
                  <a:txBody>
                    <a:bodyPr/>
                    <a:lstStyle/>
                    <a:p>
                      <a:r>
                        <a:rPr lang="en-US" sz="1800">
                          <a:latin typeface="Calibri" panose="020F0502020204030204" pitchFamily="34" charset="0"/>
                          <a:cs typeface="Calibri" panose="020F0502020204030204" pitchFamily="34" charset="0"/>
                        </a:rPr>
                        <a:t>15</a:t>
                      </a:r>
                    </a:p>
                  </a:txBody>
                  <a:tcPr anchor="ctr"/>
                </a:tc>
                <a:tc>
                  <a:txBody>
                    <a:bodyPr/>
                    <a:lstStyle/>
                    <a:p>
                      <a:r>
                        <a:rPr lang="en-US" sz="1800">
                          <a:latin typeface="Calibri" panose="020F0502020204030204" pitchFamily="34" charset="0"/>
                          <a:cs typeface="Calibri" panose="020F0502020204030204" pitchFamily="34" charset="0"/>
                        </a:rPr>
                        <a:t>24.086</a:t>
                      </a:r>
                    </a:p>
                  </a:txBody>
                  <a:tcPr anchor="ctr"/>
                </a:tc>
                <a:tc>
                  <a:txBody>
                    <a:bodyPr/>
                    <a:lstStyle/>
                    <a:p>
                      <a:r>
                        <a:rPr lang="en-US" sz="1800">
                          <a:latin typeface="Calibri" panose="020F0502020204030204" pitchFamily="34" charset="0"/>
                          <a:cs typeface="Calibri" panose="020F0502020204030204" pitchFamily="34" charset="0"/>
                        </a:rPr>
                        <a:t>14.319</a:t>
                      </a:r>
                    </a:p>
                  </a:txBody>
                  <a:tcPr anchor="ctr"/>
                </a:tc>
                <a:tc>
                  <a:txBody>
                    <a:bodyPr/>
                    <a:lstStyle/>
                    <a:p>
                      <a:r>
                        <a:rPr lang="en-US" sz="1800">
                          <a:latin typeface="Calibri" panose="020F0502020204030204" pitchFamily="34" charset="0"/>
                          <a:cs typeface="Calibri" panose="020F0502020204030204" pitchFamily="34" charset="0"/>
                        </a:rPr>
                        <a:t>18.339</a:t>
                      </a:r>
                    </a:p>
                  </a:txBody>
                  <a:tcPr anchor="ctr"/>
                </a:tc>
                <a:tc>
                  <a:txBody>
                    <a:bodyPr/>
                    <a:lstStyle/>
                    <a:p>
                      <a:r>
                        <a:rPr lang="en-US" sz="1800" dirty="0">
                          <a:latin typeface="Calibri" panose="020F0502020204030204" pitchFamily="34" charset="0"/>
                          <a:cs typeface="Calibri" panose="020F0502020204030204" pitchFamily="34" charset="0"/>
                        </a:rPr>
                        <a:t>4.193</a:t>
                      </a:r>
                    </a:p>
                  </a:txBody>
                  <a:tcPr anchor="ctr"/>
                </a:tc>
                <a:tc>
                  <a:txBody>
                    <a:bodyPr/>
                    <a:lstStyle/>
                    <a:p>
                      <a:r>
                        <a:rPr lang="en-US" sz="1800" dirty="0">
                          <a:latin typeface="Calibri" panose="020F0502020204030204" pitchFamily="34" charset="0"/>
                          <a:cs typeface="Calibri" panose="020F0502020204030204" pitchFamily="34" charset="0"/>
                        </a:rPr>
                        <a:t>65.187</a:t>
                      </a:r>
                    </a:p>
                  </a:txBody>
                  <a:tcPr anchor="ctr"/>
                </a:tc>
                <a:extLst>
                  <a:ext uri="{0D108BD9-81ED-4DB2-BD59-A6C34878D82A}">
                    <a16:rowId xmlns:a16="http://schemas.microsoft.com/office/drawing/2014/main" val="3425208535"/>
                  </a:ext>
                </a:extLst>
              </a:tr>
            </a:tbl>
          </a:graphicData>
        </a:graphic>
      </p:graphicFrame>
      <p:sp>
        <p:nvSpPr>
          <p:cNvPr id="5" name="CuadroTexto 4"/>
          <p:cNvSpPr txBox="1"/>
          <p:nvPr/>
        </p:nvSpPr>
        <p:spPr>
          <a:xfrm>
            <a:off x="1576065" y="5253606"/>
            <a:ext cx="9777735" cy="276999"/>
          </a:xfrm>
          <a:prstGeom prst="rect">
            <a:avLst/>
          </a:prstGeom>
          <a:noFill/>
        </p:spPr>
        <p:txBody>
          <a:bodyPr wrap="square" rtlCol="0">
            <a:spAutoFit/>
          </a:bodyPr>
          <a:lstStyle/>
          <a:p>
            <a:r>
              <a:rPr lang="es-ES" sz="1200" b="1" dirty="0" smtClean="0">
                <a:latin typeface="Calibri" panose="020F0502020204030204" pitchFamily="34" charset="0"/>
                <a:cs typeface="Calibri" panose="020F0502020204030204" pitchFamily="34" charset="0"/>
              </a:rPr>
              <a:t>Nota:</a:t>
            </a:r>
            <a:r>
              <a:rPr lang="es-ES" sz="1200" dirty="0" smtClean="0">
                <a:latin typeface="Calibri" panose="020F0502020204030204" pitchFamily="34" charset="0"/>
                <a:cs typeface="Calibri" panose="020F0502020204030204" pitchFamily="34" charset="0"/>
              </a:rPr>
              <a:t> el coeficiente de </a:t>
            </a:r>
            <a:r>
              <a:rPr lang="es-ES" sz="1200" dirty="0" err="1" smtClean="0">
                <a:latin typeface="Calibri" panose="020F0502020204030204" pitchFamily="34" charset="0"/>
                <a:cs typeface="Calibri" panose="020F0502020204030204" pitchFamily="34" charset="0"/>
              </a:rPr>
              <a:t>Gini</a:t>
            </a:r>
            <a:r>
              <a:rPr lang="es-ES" sz="1200" dirty="0" smtClean="0">
                <a:latin typeface="Calibri" panose="020F0502020204030204" pitchFamily="34" charset="0"/>
                <a:cs typeface="Calibri" panose="020F0502020204030204" pitchFamily="34" charset="0"/>
              </a:rPr>
              <a:t> solo está disponible para 9 de los 15 países en el año 2023, en línea con la limitación de cobertura señalada en la </a:t>
            </a:r>
            <a:r>
              <a:rPr lang="es-ES" sz="1200" dirty="0" err="1" smtClean="0">
                <a:latin typeface="Calibri" panose="020F0502020204030204" pitchFamily="34" charset="0"/>
                <a:cs typeface="Calibri" panose="020F0502020204030204" pitchFamily="34" charset="0"/>
              </a:rPr>
              <a:t>slide</a:t>
            </a:r>
            <a:r>
              <a:rPr lang="es-ES" sz="1200" dirty="0" smtClean="0">
                <a:latin typeface="Calibri" panose="020F0502020204030204" pitchFamily="34" charset="0"/>
                <a:cs typeface="Calibri" panose="020F0502020204030204" pitchFamily="34" charset="0"/>
              </a:rPr>
              <a:t> 3.</a:t>
            </a:r>
            <a:endParaRPr lang="es-ES"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8660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3000" b="1" dirty="0" smtClean="0">
                <a:solidFill>
                  <a:srgbClr val="1A1A1A"/>
                </a:solidFill>
                <a:latin typeface="Cambria" panose="02040503050406030204" pitchFamily="18" charset="0"/>
                <a:cs typeface="Cambria" panose="02040503050406030204" pitchFamily="18" charset="0"/>
              </a:rPr>
              <a:t>Estadísticas descriptivas por grupo de industrialización</a:t>
            </a:r>
            <a:endParaRPr lang="es-ES" sz="3000" b="1" dirty="0">
              <a:solidFill>
                <a:srgbClr val="1A1A1A"/>
              </a:solidFill>
              <a:latin typeface="Cambria" panose="02040503050406030204" pitchFamily="18" charset="0"/>
              <a:cs typeface="Cambria" panose="02040503050406030204" pitchFamily="18" charset="0"/>
            </a:endParaRPr>
          </a:p>
        </p:txBody>
      </p:sp>
      <p:graphicFrame>
        <p:nvGraphicFramePr>
          <p:cNvPr id="6" name="Marcador de contenido 5"/>
          <p:cNvGraphicFramePr>
            <a:graphicFrameLocks noGrp="1"/>
          </p:cNvGraphicFramePr>
          <p:nvPr>
            <p:ph idx="1"/>
            <p:extLst>
              <p:ext uri="{D42A27DB-BD31-4B8C-83A1-F6EECF244321}">
                <p14:modId xmlns:p14="http://schemas.microsoft.com/office/powerpoint/2010/main" val="3552877629"/>
              </p:ext>
            </p:extLst>
          </p:nvPr>
        </p:nvGraphicFramePr>
        <p:xfrm>
          <a:off x="838200" y="1690688"/>
          <a:ext cx="10515600" cy="2566887"/>
        </p:xfrm>
        <a:graphic>
          <a:graphicData uri="http://schemas.openxmlformats.org/drawingml/2006/table">
            <a:tbl>
              <a:tblPr firstRow="1" bandRow="1">
                <a:tableStyleId>{073A0DAA-6AF3-43AB-8588-CEC1D06C72B9}</a:tableStyleId>
              </a:tblPr>
              <a:tblGrid>
                <a:gridCol w="2103120">
                  <a:extLst>
                    <a:ext uri="{9D8B030D-6E8A-4147-A177-3AD203B41FA5}">
                      <a16:colId xmlns:a16="http://schemas.microsoft.com/office/drawing/2014/main" val="3234728237"/>
                    </a:ext>
                  </a:extLst>
                </a:gridCol>
                <a:gridCol w="2103120">
                  <a:extLst>
                    <a:ext uri="{9D8B030D-6E8A-4147-A177-3AD203B41FA5}">
                      <a16:colId xmlns:a16="http://schemas.microsoft.com/office/drawing/2014/main" val="2562686087"/>
                    </a:ext>
                  </a:extLst>
                </a:gridCol>
                <a:gridCol w="2103120">
                  <a:extLst>
                    <a:ext uri="{9D8B030D-6E8A-4147-A177-3AD203B41FA5}">
                      <a16:colId xmlns:a16="http://schemas.microsoft.com/office/drawing/2014/main" val="4209282474"/>
                    </a:ext>
                  </a:extLst>
                </a:gridCol>
                <a:gridCol w="2103120">
                  <a:extLst>
                    <a:ext uri="{9D8B030D-6E8A-4147-A177-3AD203B41FA5}">
                      <a16:colId xmlns:a16="http://schemas.microsoft.com/office/drawing/2014/main" val="2838717471"/>
                    </a:ext>
                  </a:extLst>
                </a:gridCol>
                <a:gridCol w="2103120">
                  <a:extLst>
                    <a:ext uri="{9D8B030D-6E8A-4147-A177-3AD203B41FA5}">
                      <a16:colId xmlns:a16="http://schemas.microsoft.com/office/drawing/2014/main" val="204354846"/>
                    </a:ext>
                  </a:extLst>
                </a:gridCol>
              </a:tblGrid>
              <a:tr h="555207">
                <a:tc>
                  <a:txBody>
                    <a:bodyPr/>
                    <a:lstStyle/>
                    <a:p>
                      <a:r>
                        <a:rPr lang="en-US" dirty="0" err="1">
                          <a:latin typeface="Calibri" panose="020F0502020204030204" pitchFamily="34" charset="0"/>
                          <a:cs typeface="Calibri" panose="020F0502020204030204" pitchFamily="34" charset="0"/>
                        </a:rPr>
                        <a:t>Grupo</a:t>
                      </a:r>
                      <a:endParaRPr lang="en-US" dirty="0">
                        <a:latin typeface="Calibri" panose="020F0502020204030204" pitchFamily="34" charset="0"/>
                        <a:cs typeface="Calibri" panose="020F0502020204030204" pitchFamily="34" charset="0"/>
                      </a:endParaRPr>
                    </a:p>
                  </a:txBody>
                  <a:tcPr anchor="ctr"/>
                </a:tc>
                <a:tc>
                  <a:txBody>
                    <a:bodyPr/>
                    <a:lstStyle/>
                    <a:p>
                      <a:r>
                        <a:rPr lang="en-US">
                          <a:latin typeface="Calibri" panose="020F0502020204030204" pitchFamily="34" charset="0"/>
                          <a:cs typeface="Calibri" panose="020F0502020204030204" pitchFamily="34" charset="0"/>
                        </a:rPr>
                        <a:t>Variable</a:t>
                      </a:r>
                    </a:p>
                  </a:txBody>
                  <a:tcPr anchor="ctr"/>
                </a:tc>
                <a:tc>
                  <a:txBody>
                    <a:bodyPr/>
                    <a:lstStyle/>
                    <a:p>
                      <a:r>
                        <a:rPr lang="en-US" dirty="0" err="1">
                          <a:latin typeface="Calibri" panose="020F0502020204030204" pitchFamily="34" charset="0"/>
                          <a:cs typeface="Calibri" panose="020F0502020204030204" pitchFamily="34" charset="0"/>
                        </a:rPr>
                        <a:t>Observaciones</a:t>
                      </a:r>
                      <a:endParaRPr lang="en-US" dirty="0">
                        <a:latin typeface="Calibri" panose="020F0502020204030204" pitchFamily="34" charset="0"/>
                        <a:cs typeface="Calibri" panose="020F0502020204030204" pitchFamily="34" charset="0"/>
                      </a:endParaRPr>
                    </a:p>
                  </a:txBody>
                  <a:tcPr anchor="ctr"/>
                </a:tc>
                <a:tc>
                  <a:txBody>
                    <a:bodyPr/>
                    <a:lstStyle/>
                    <a:p>
                      <a:r>
                        <a:rPr lang="en-US">
                          <a:latin typeface="Calibri" panose="020F0502020204030204" pitchFamily="34" charset="0"/>
                          <a:cs typeface="Calibri" panose="020F0502020204030204" pitchFamily="34" charset="0"/>
                        </a:rPr>
                        <a:t>Media</a:t>
                      </a:r>
                    </a:p>
                  </a:txBody>
                  <a:tcPr anchor="ctr"/>
                </a:tc>
                <a:tc>
                  <a:txBody>
                    <a:bodyPr/>
                    <a:lstStyle/>
                    <a:p>
                      <a:r>
                        <a:rPr lang="en-US">
                          <a:latin typeface="Calibri" panose="020F0502020204030204" pitchFamily="34" charset="0"/>
                          <a:cs typeface="Calibri" panose="020F0502020204030204" pitchFamily="34" charset="0"/>
                        </a:rPr>
                        <a:t>Mediana</a:t>
                      </a:r>
                    </a:p>
                  </a:txBody>
                  <a:tcPr anchor="ctr"/>
                </a:tc>
                <a:extLst>
                  <a:ext uri="{0D108BD9-81ED-4DB2-BD59-A6C34878D82A}">
                    <a16:rowId xmlns:a16="http://schemas.microsoft.com/office/drawing/2014/main" val="2432570889"/>
                  </a:ext>
                </a:extLst>
              </a:tr>
              <a:tr h="0">
                <a:tc>
                  <a:txBody>
                    <a:bodyPr/>
                    <a:lstStyle/>
                    <a:p>
                      <a:r>
                        <a:rPr lang="en-US">
                          <a:latin typeface="Calibri" panose="020F0502020204030204" pitchFamily="34" charset="0"/>
                          <a:cs typeface="Calibri" panose="020F0502020204030204" pitchFamily="34" charset="0"/>
                        </a:rPr>
                        <a:t>Más industrializado</a:t>
                      </a:r>
                    </a:p>
                  </a:txBody>
                  <a:tcPr anchor="ctr"/>
                </a:tc>
                <a:tc>
                  <a:txBody>
                    <a:bodyPr/>
                    <a:lstStyle/>
                    <a:p>
                      <a:r>
                        <a:rPr lang="en-US">
                          <a:latin typeface="Calibri" panose="020F0502020204030204" pitchFamily="34" charset="0"/>
                          <a:cs typeface="Calibri" panose="020F0502020204030204" pitchFamily="34" charset="0"/>
                        </a:rPr>
                        <a:t>PBI per cápita</a:t>
                      </a:r>
                    </a:p>
                  </a:txBody>
                  <a:tcPr anchor="ctr"/>
                </a:tc>
                <a:tc>
                  <a:txBody>
                    <a:bodyPr/>
                    <a:lstStyle/>
                    <a:p>
                      <a:r>
                        <a:rPr lang="en-US">
                          <a:latin typeface="Calibri" panose="020F0502020204030204" pitchFamily="34" charset="0"/>
                          <a:cs typeface="Calibri" panose="020F0502020204030204" pitchFamily="34" charset="0"/>
                        </a:rPr>
                        <a:t>8</a:t>
                      </a:r>
                    </a:p>
                  </a:txBody>
                  <a:tcPr anchor="ctr"/>
                </a:tc>
                <a:tc>
                  <a:txBody>
                    <a:bodyPr/>
                    <a:lstStyle/>
                    <a:p>
                      <a:r>
                        <a:rPr lang="en-US">
                          <a:latin typeface="Calibri" panose="020F0502020204030204" pitchFamily="34" charset="0"/>
                          <a:cs typeface="Calibri" panose="020F0502020204030204" pitchFamily="34" charset="0"/>
                        </a:rPr>
                        <a:t>35.899</a:t>
                      </a:r>
                    </a:p>
                  </a:txBody>
                  <a:tcPr anchor="ctr"/>
                </a:tc>
                <a:tc>
                  <a:txBody>
                    <a:bodyPr/>
                    <a:lstStyle/>
                    <a:p>
                      <a:r>
                        <a:rPr lang="en-US">
                          <a:latin typeface="Calibri" panose="020F0502020204030204" pitchFamily="34" charset="0"/>
                          <a:cs typeface="Calibri" panose="020F0502020204030204" pitchFamily="34" charset="0"/>
                        </a:rPr>
                        <a:t>37.834</a:t>
                      </a:r>
                    </a:p>
                  </a:txBody>
                  <a:tcPr anchor="ctr"/>
                </a:tc>
                <a:extLst>
                  <a:ext uri="{0D108BD9-81ED-4DB2-BD59-A6C34878D82A}">
                    <a16:rowId xmlns:a16="http://schemas.microsoft.com/office/drawing/2014/main" val="3943000769"/>
                  </a:ext>
                </a:extLst>
              </a:tr>
              <a:tr h="0">
                <a:tc>
                  <a:txBody>
                    <a:bodyPr/>
                    <a:lstStyle/>
                    <a:p>
                      <a:r>
                        <a:rPr lang="en-US">
                          <a:latin typeface="Calibri" panose="020F0502020204030204" pitchFamily="34" charset="0"/>
                          <a:cs typeface="Calibri" panose="020F0502020204030204" pitchFamily="34" charset="0"/>
                        </a:rPr>
                        <a:t>Menos industrializado</a:t>
                      </a:r>
                    </a:p>
                  </a:txBody>
                  <a:tcPr anchor="ctr"/>
                </a:tc>
                <a:tc>
                  <a:txBody>
                    <a:bodyPr/>
                    <a:lstStyle/>
                    <a:p>
                      <a:r>
                        <a:rPr lang="en-US">
                          <a:latin typeface="Calibri" panose="020F0502020204030204" pitchFamily="34" charset="0"/>
                          <a:cs typeface="Calibri" panose="020F0502020204030204" pitchFamily="34" charset="0"/>
                        </a:rPr>
                        <a:t>PBI per cápita</a:t>
                      </a:r>
                    </a:p>
                  </a:txBody>
                  <a:tcPr anchor="ctr"/>
                </a:tc>
                <a:tc>
                  <a:txBody>
                    <a:bodyPr/>
                    <a:lstStyle/>
                    <a:p>
                      <a:r>
                        <a:rPr lang="en-US">
                          <a:latin typeface="Calibri" panose="020F0502020204030204" pitchFamily="34" charset="0"/>
                          <a:cs typeface="Calibri" panose="020F0502020204030204" pitchFamily="34" charset="0"/>
                        </a:rPr>
                        <a:t>7</a:t>
                      </a:r>
                    </a:p>
                  </a:txBody>
                  <a:tcPr anchor="ctr"/>
                </a:tc>
                <a:tc>
                  <a:txBody>
                    <a:bodyPr/>
                    <a:lstStyle/>
                    <a:p>
                      <a:r>
                        <a:rPr lang="en-US">
                          <a:latin typeface="Calibri" panose="020F0502020204030204" pitchFamily="34" charset="0"/>
                          <a:cs typeface="Calibri" panose="020F0502020204030204" pitchFamily="34" charset="0"/>
                        </a:rPr>
                        <a:t>10.586</a:t>
                      </a:r>
                    </a:p>
                  </a:txBody>
                  <a:tcPr anchor="ctr"/>
                </a:tc>
                <a:tc>
                  <a:txBody>
                    <a:bodyPr/>
                    <a:lstStyle/>
                    <a:p>
                      <a:r>
                        <a:rPr lang="en-US">
                          <a:latin typeface="Calibri" panose="020F0502020204030204" pitchFamily="34" charset="0"/>
                          <a:cs typeface="Calibri" panose="020F0502020204030204" pitchFamily="34" charset="0"/>
                        </a:rPr>
                        <a:t>10.259</a:t>
                      </a:r>
                    </a:p>
                  </a:txBody>
                  <a:tcPr anchor="ctr"/>
                </a:tc>
                <a:extLst>
                  <a:ext uri="{0D108BD9-81ED-4DB2-BD59-A6C34878D82A}">
                    <a16:rowId xmlns:a16="http://schemas.microsoft.com/office/drawing/2014/main" val="1484059424"/>
                  </a:ext>
                </a:extLst>
              </a:tr>
              <a:tr h="0">
                <a:tc>
                  <a:txBody>
                    <a:bodyPr/>
                    <a:lstStyle/>
                    <a:p>
                      <a:r>
                        <a:rPr lang="en-US">
                          <a:latin typeface="Calibri" panose="020F0502020204030204" pitchFamily="34" charset="0"/>
                          <a:cs typeface="Calibri" panose="020F0502020204030204" pitchFamily="34" charset="0"/>
                        </a:rPr>
                        <a:t>Más industrializado</a:t>
                      </a:r>
                    </a:p>
                  </a:txBody>
                  <a:tcPr anchor="ctr"/>
                </a:tc>
                <a:tc>
                  <a:txBody>
                    <a:bodyPr/>
                    <a:lstStyle/>
                    <a:p>
                      <a:r>
                        <a:rPr lang="en-US">
                          <a:latin typeface="Calibri" panose="020F0502020204030204" pitchFamily="34" charset="0"/>
                          <a:cs typeface="Calibri" panose="020F0502020204030204" pitchFamily="34" charset="0"/>
                        </a:rPr>
                        <a:t>Coeficiente de Gini</a:t>
                      </a:r>
                    </a:p>
                  </a:txBody>
                  <a:tcPr anchor="ctr"/>
                </a:tc>
                <a:tc>
                  <a:txBody>
                    <a:bodyPr/>
                    <a:lstStyle/>
                    <a:p>
                      <a:r>
                        <a:rPr lang="en-US">
                          <a:latin typeface="Calibri" panose="020F0502020204030204" pitchFamily="34" charset="0"/>
                          <a:cs typeface="Calibri" panose="020F0502020204030204" pitchFamily="34" charset="0"/>
                        </a:rPr>
                        <a:t>4</a:t>
                      </a:r>
                    </a:p>
                  </a:txBody>
                  <a:tcPr anchor="ctr"/>
                </a:tc>
                <a:tc>
                  <a:txBody>
                    <a:bodyPr/>
                    <a:lstStyle/>
                    <a:p>
                      <a:r>
                        <a:rPr lang="en-US">
                          <a:latin typeface="Calibri" panose="020F0502020204030204" pitchFamily="34" charset="0"/>
                          <a:cs typeface="Calibri" panose="020F0502020204030204" pitchFamily="34" charset="0"/>
                        </a:rPr>
                        <a:t>37,4</a:t>
                      </a:r>
                    </a:p>
                  </a:txBody>
                  <a:tcPr anchor="ctr"/>
                </a:tc>
                <a:tc>
                  <a:txBody>
                    <a:bodyPr/>
                    <a:lstStyle/>
                    <a:p>
                      <a:r>
                        <a:rPr lang="en-US">
                          <a:latin typeface="Calibri" panose="020F0502020204030204" pitchFamily="34" charset="0"/>
                          <a:cs typeface="Calibri" panose="020F0502020204030204" pitchFamily="34" charset="0"/>
                        </a:rPr>
                        <a:t>37,6</a:t>
                      </a:r>
                    </a:p>
                  </a:txBody>
                  <a:tcPr anchor="ctr"/>
                </a:tc>
                <a:extLst>
                  <a:ext uri="{0D108BD9-81ED-4DB2-BD59-A6C34878D82A}">
                    <a16:rowId xmlns:a16="http://schemas.microsoft.com/office/drawing/2014/main" val="3216967930"/>
                  </a:ext>
                </a:extLst>
              </a:tr>
              <a:tr h="0">
                <a:tc>
                  <a:txBody>
                    <a:bodyPr/>
                    <a:lstStyle/>
                    <a:p>
                      <a:r>
                        <a:rPr lang="en-US">
                          <a:latin typeface="Calibri" panose="020F0502020204030204" pitchFamily="34" charset="0"/>
                          <a:cs typeface="Calibri" panose="020F0502020204030204" pitchFamily="34" charset="0"/>
                        </a:rPr>
                        <a:t>Menos industrializado</a:t>
                      </a:r>
                    </a:p>
                  </a:txBody>
                  <a:tcPr anchor="ctr"/>
                </a:tc>
                <a:tc>
                  <a:txBody>
                    <a:bodyPr/>
                    <a:lstStyle/>
                    <a:p>
                      <a:r>
                        <a:rPr lang="en-US">
                          <a:latin typeface="Calibri" panose="020F0502020204030204" pitchFamily="34" charset="0"/>
                          <a:cs typeface="Calibri" panose="020F0502020204030204" pitchFamily="34" charset="0"/>
                        </a:rPr>
                        <a:t>Coeficiente de Gini</a:t>
                      </a:r>
                    </a:p>
                  </a:txBody>
                  <a:tcPr anchor="ctr"/>
                </a:tc>
                <a:tc>
                  <a:txBody>
                    <a:bodyPr/>
                    <a:lstStyle/>
                    <a:p>
                      <a:r>
                        <a:rPr lang="en-US">
                          <a:latin typeface="Calibri" panose="020F0502020204030204" pitchFamily="34" charset="0"/>
                          <a:cs typeface="Calibri" panose="020F0502020204030204" pitchFamily="34" charset="0"/>
                        </a:rPr>
                        <a:t>5</a:t>
                      </a:r>
                    </a:p>
                  </a:txBody>
                  <a:tcPr anchor="ctr"/>
                </a:tc>
                <a:tc>
                  <a:txBody>
                    <a:bodyPr/>
                    <a:lstStyle/>
                    <a:p>
                      <a:r>
                        <a:rPr lang="en-US">
                          <a:latin typeface="Calibri" panose="020F0502020204030204" pitchFamily="34" charset="0"/>
                          <a:cs typeface="Calibri" panose="020F0502020204030204" pitchFamily="34" charset="0"/>
                        </a:rPr>
                        <a:t>46,5</a:t>
                      </a:r>
                    </a:p>
                  </a:txBody>
                  <a:tcPr anchor="ctr"/>
                </a:tc>
                <a:tc>
                  <a:txBody>
                    <a:bodyPr/>
                    <a:lstStyle/>
                    <a:p>
                      <a:r>
                        <a:rPr lang="en-US" dirty="0">
                          <a:latin typeface="Calibri" panose="020F0502020204030204" pitchFamily="34" charset="0"/>
                          <a:cs typeface="Calibri" panose="020F0502020204030204" pitchFamily="34" charset="0"/>
                        </a:rPr>
                        <a:t>46,7</a:t>
                      </a:r>
                    </a:p>
                  </a:txBody>
                  <a:tcPr anchor="ctr"/>
                </a:tc>
                <a:extLst>
                  <a:ext uri="{0D108BD9-81ED-4DB2-BD59-A6C34878D82A}">
                    <a16:rowId xmlns:a16="http://schemas.microsoft.com/office/drawing/2014/main" val="2395575789"/>
                  </a:ext>
                </a:extLst>
              </a:tr>
            </a:tbl>
          </a:graphicData>
        </a:graphic>
      </p:graphicFrame>
      <p:sp>
        <p:nvSpPr>
          <p:cNvPr id="7" name="CuadroTexto 6"/>
          <p:cNvSpPr txBox="1"/>
          <p:nvPr/>
        </p:nvSpPr>
        <p:spPr>
          <a:xfrm>
            <a:off x="838200" y="4378028"/>
            <a:ext cx="10515599" cy="1754326"/>
          </a:xfrm>
          <a:prstGeom prst="rect">
            <a:avLst/>
          </a:prstGeom>
          <a:noFill/>
        </p:spPr>
        <p:txBody>
          <a:bodyPr wrap="square" rtlCol="0">
            <a:spAutoFit/>
          </a:bodyPr>
          <a:lstStyle/>
          <a:p>
            <a:r>
              <a:rPr lang="es-ES" dirty="0" smtClean="0">
                <a:latin typeface="Calibri" panose="020F0502020204030204" pitchFamily="34" charset="0"/>
                <a:cs typeface="Calibri" panose="020F0502020204030204" pitchFamily="34" charset="0"/>
              </a:rPr>
              <a:t>El grupo más industrializado presenta un PBI per cápita superior al triple del grupo menos industrializado, y un coeficiente de </a:t>
            </a:r>
            <a:r>
              <a:rPr lang="es-ES" dirty="0" err="1" smtClean="0">
                <a:latin typeface="Calibri" panose="020F0502020204030204" pitchFamily="34" charset="0"/>
                <a:cs typeface="Calibri" panose="020F0502020204030204" pitchFamily="34" charset="0"/>
              </a:rPr>
              <a:t>Gini</a:t>
            </a:r>
            <a:r>
              <a:rPr lang="es-ES" dirty="0" smtClean="0">
                <a:latin typeface="Calibri" panose="020F0502020204030204" pitchFamily="34" charset="0"/>
                <a:cs typeface="Calibri" panose="020F0502020204030204" pitchFamily="34" charset="0"/>
              </a:rPr>
              <a:t> promedio aproximadamente 9 puntos menor, lo que indica menor desigualdad relativa.</a:t>
            </a:r>
          </a:p>
          <a:p>
            <a:r>
              <a:rPr lang="es-ES" dirty="0" smtClean="0">
                <a:latin typeface="Calibri" panose="020F0502020204030204" pitchFamily="34" charset="0"/>
                <a:cs typeface="Calibri" panose="020F0502020204030204" pitchFamily="34" charset="0"/>
              </a:rPr>
              <a:t>Estadísticas del coeficiente de </a:t>
            </a:r>
            <a:r>
              <a:rPr lang="es-ES" dirty="0" err="1" smtClean="0">
                <a:latin typeface="Calibri" panose="020F0502020204030204" pitchFamily="34" charset="0"/>
                <a:cs typeface="Calibri" panose="020F0502020204030204" pitchFamily="34" charset="0"/>
              </a:rPr>
              <a:t>Gini</a:t>
            </a:r>
            <a:r>
              <a:rPr lang="es-ES" dirty="0" smtClean="0">
                <a:latin typeface="Calibri" panose="020F0502020204030204" pitchFamily="34" charset="0"/>
                <a:cs typeface="Calibri" panose="020F0502020204030204" pitchFamily="34" charset="0"/>
              </a:rPr>
              <a:t> sobre el panel completo, considerando todas las observaciones país y año disponibles (no solo el corte 2023, sino la muestra efectivamente utilizada en la regresión de la </a:t>
            </a:r>
            <a:r>
              <a:rPr lang="es-ES" dirty="0" err="1" smtClean="0">
                <a:latin typeface="Calibri" panose="020F0502020204030204" pitchFamily="34" charset="0"/>
                <a:cs typeface="Calibri" panose="020F0502020204030204" pitchFamily="34" charset="0"/>
              </a:rPr>
              <a:t>slide</a:t>
            </a:r>
            <a:r>
              <a:rPr lang="es-ES" dirty="0" smtClean="0">
                <a:latin typeface="Calibri" panose="020F0502020204030204" pitchFamily="34" charset="0"/>
                <a:cs typeface="Calibri" panose="020F0502020204030204" pitchFamily="34" charset="0"/>
              </a:rPr>
              <a:t> 17), 467 observaciones, media de 40,9, mediana de 39,1</a:t>
            </a:r>
          </a:p>
          <a:p>
            <a:endParaRPr lang="es-ES" dirty="0"/>
          </a:p>
        </p:txBody>
      </p:sp>
    </p:spTree>
    <p:extLst>
      <p:ext uri="{BB962C8B-B14F-4D97-AF65-F5344CB8AC3E}">
        <p14:creationId xmlns:p14="http://schemas.microsoft.com/office/powerpoint/2010/main" val="3038033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3000" b="1" dirty="0" smtClean="0">
                <a:solidFill>
                  <a:srgbClr val="1A1A1A"/>
                </a:solidFill>
                <a:latin typeface="Cambria" panose="02040503050406030204" pitchFamily="18" charset="0"/>
                <a:cs typeface="Cambria" panose="02040503050406030204" pitchFamily="18" charset="0"/>
              </a:rPr>
              <a:t>Criterio de clasificación de países</a:t>
            </a:r>
            <a:endParaRPr lang="es-ES" sz="3000" b="1" dirty="0">
              <a:solidFill>
                <a:srgbClr val="1A1A1A"/>
              </a:solidFill>
              <a:latin typeface="Cambria" panose="02040503050406030204" pitchFamily="18" charset="0"/>
              <a:cs typeface="Cambria" panose="02040503050406030204" pitchFamily="18" charset="0"/>
            </a:endParaRPr>
          </a:p>
        </p:txBody>
      </p:sp>
      <p:sp>
        <p:nvSpPr>
          <p:cNvPr id="3" name="Marcador de contenido 2"/>
          <p:cNvSpPr>
            <a:spLocks noGrp="1"/>
          </p:cNvSpPr>
          <p:nvPr>
            <p:ph idx="1"/>
          </p:nvPr>
        </p:nvSpPr>
        <p:spPr/>
        <p:txBody>
          <a:bodyPr>
            <a:normAutofit fontScale="62500" lnSpcReduction="20000"/>
          </a:bodyPr>
          <a:lstStyle/>
          <a:p>
            <a:pPr marL="0" indent="0">
              <a:buNone/>
            </a:pPr>
            <a:r>
              <a:rPr lang="es-ES" b="1" dirty="0" smtClean="0">
                <a:latin typeface="Calibri" panose="020F0502020204030204" pitchFamily="34" charset="0"/>
                <a:cs typeface="Calibri" panose="020F0502020204030204" pitchFamily="34" charset="0"/>
              </a:rPr>
              <a:t>Criterio adoptado:</a:t>
            </a:r>
            <a:r>
              <a:rPr lang="es-ES" dirty="0" smtClean="0">
                <a:latin typeface="Calibri" panose="020F0502020204030204" pitchFamily="34" charset="0"/>
                <a:cs typeface="Calibri" panose="020F0502020204030204" pitchFamily="34" charset="0"/>
              </a:rPr>
              <a:t> nivel del PBI industrial per cápita en el año 2023, considerado en términos absolutos.</a:t>
            </a:r>
          </a:p>
          <a:p>
            <a:pPr marL="0" indent="0">
              <a:buNone/>
            </a:pPr>
            <a:r>
              <a:rPr lang="es-ES" dirty="0" smtClean="0">
                <a:latin typeface="Calibri" panose="020F0502020204030204" pitchFamily="34" charset="0"/>
                <a:cs typeface="Calibri" panose="020F0502020204030204" pitchFamily="34" charset="0"/>
              </a:rPr>
              <a:t>El nuevo criterio se basa en una instancia previa del trabajo se había clasificado a los países según la variación porcentual del índice industrial entre 1970 y 2023. Esa aproximación presentaba un problema metodológico señalado por el docente comparar el crecimiento industrial contra el crecimiento del PBI total resulta parcialmente circular, dado que la industria es uno de los sectores con mayor efecto multiplicador sobre el PBI agregado. Adicionalmente, ese criterio producía resultados contra intuitivos, en los que países con un PBI industrial per cápita absoluto elevado, como Estados Unidos, Francia y el Reino Unido, quedaban clasificados como menos industrializados por haber crecido proporcionalmente menos que otros. Por estas razones, se adoptó el nivel absoluto en el año más reciente disponible como criterio definitivo.</a:t>
            </a:r>
          </a:p>
          <a:p>
            <a:pPr marL="0" indent="0">
              <a:buNone/>
            </a:pPr>
            <a:r>
              <a:rPr lang="es-ES" b="1" dirty="0" smtClean="0">
                <a:latin typeface="Calibri" panose="020F0502020204030204" pitchFamily="34" charset="0"/>
                <a:cs typeface="Calibri" panose="020F0502020204030204" pitchFamily="34" charset="0"/>
              </a:rPr>
              <a:t>Composición de los grupos resultantes:</a:t>
            </a:r>
          </a:p>
          <a:p>
            <a:pPr marL="0" indent="0">
              <a:buNone/>
            </a:pPr>
            <a:r>
              <a:rPr lang="es-ES" b="1" dirty="0" smtClean="0">
                <a:latin typeface="Calibri" panose="020F0502020204030204" pitchFamily="34" charset="0"/>
                <a:cs typeface="Calibri" panose="020F0502020204030204" pitchFamily="34" charset="0"/>
              </a:rPr>
              <a:t>Más industrializados (8 países): </a:t>
            </a:r>
            <a:r>
              <a:rPr lang="es-ES" dirty="0" smtClean="0">
                <a:latin typeface="Calibri" panose="020F0502020204030204" pitchFamily="34" charset="0"/>
                <a:cs typeface="Calibri" panose="020F0502020204030204" pitchFamily="34" charset="0"/>
              </a:rPr>
              <a:t>Alemania, Argentina, China, España, Estados Unidos, Francia, Corea del Sur y Reino Unido.</a:t>
            </a:r>
          </a:p>
          <a:p>
            <a:pPr marL="0" indent="0">
              <a:buNone/>
            </a:pPr>
            <a:r>
              <a:rPr lang="es-ES" b="1" dirty="0" smtClean="0">
                <a:latin typeface="Calibri" panose="020F0502020204030204" pitchFamily="34" charset="0"/>
                <a:cs typeface="Calibri" panose="020F0502020204030204" pitchFamily="34" charset="0"/>
              </a:rPr>
              <a:t>Menos industrializados (7 países): </a:t>
            </a:r>
            <a:r>
              <a:rPr lang="es-ES" dirty="0" smtClean="0">
                <a:latin typeface="Calibri" panose="020F0502020204030204" pitchFamily="34" charset="0"/>
                <a:cs typeface="Calibri" panose="020F0502020204030204" pitchFamily="34" charset="0"/>
              </a:rPr>
              <a:t>Brasil, Chile, Colombia, Costa Rica, Indonesia, México y Turquía.</a:t>
            </a:r>
          </a:p>
          <a:p>
            <a:pPr marL="0" indent="0">
              <a:buNone/>
            </a:pPr>
            <a:r>
              <a:rPr lang="es-ES" b="1" dirty="0" smtClean="0">
                <a:latin typeface="Calibri" panose="020F0502020204030204" pitchFamily="34" charset="0"/>
                <a:cs typeface="Calibri" panose="020F0502020204030204" pitchFamily="34" charset="0"/>
              </a:rPr>
              <a:t>Observación relevante: </a:t>
            </a:r>
            <a:r>
              <a:rPr lang="es-ES" dirty="0" smtClean="0">
                <a:latin typeface="Calibri" panose="020F0502020204030204" pitchFamily="34" charset="0"/>
                <a:cs typeface="Calibri" panose="020F0502020204030204" pitchFamily="34" charset="0"/>
              </a:rPr>
              <a:t>Argentina queda clasificada en el grupo de mayor industrialización bajo este criterio. Este resultado, aunque puede resultar inesperado a primera vista, refleja el nivel absoluto del PBI industrial per cápita en el año 2023, y no la trayectoria de crecimiento reciente del país.</a:t>
            </a:r>
          </a:p>
          <a:p>
            <a:endParaRPr lang="es-ES" dirty="0" smtClean="0"/>
          </a:p>
          <a:p>
            <a:endParaRPr lang="es-ES" dirty="0"/>
          </a:p>
          <a:p>
            <a:endParaRPr lang="es-ES" dirty="0" smtClean="0"/>
          </a:p>
          <a:p>
            <a:endParaRPr lang="es-ES" dirty="0"/>
          </a:p>
        </p:txBody>
      </p:sp>
    </p:spTree>
    <p:extLst>
      <p:ext uri="{BB962C8B-B14F-4D97-AF65-F5344CB8AC3E}">
        <p14:creationId xmlns:p14="http://schemas.microsoft.com/office/powerpoint/2010/main" val="1889945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3000" b="1" dirty="0" smtClean="0">
                <a:solidFill>
                  <a:srgbClr val="1A1A1A"/>
                </a:solidFill>
                <a:latin typeface="Cambria" panose="02040503050406030204" pitchFamily="18" charset="0"/>
                <a:cs typeface="Cambria" panose="02040503050406030204" pitchFamily="18" charset="0"/>
              </a:rPr>
              <a:t>Datos faltantes</a:t>
            </a:r>
            <a:endParaRPr lang="es-ES" sz="3000" b="1" dirty="0">
              <a:solidFill>
                <a:srgbClr val="1A1A1A"/>
              </a:solidFill>
              <a:latin typeface="Cambria" panose="02040503050406030204" pitchFamily="18" charset="0"/>
              <a:cs typeface="Cambria" panose="02040503050406030204" pitchFamily="18" charset="0"/>
            </a:endParaRPr>
          </a:p>
        </p:txBody>
      </p:sp>
      <p:graphicFrame>
        <p:nvGraphicFramePr>
          <p:cNvPr id="5" name="Marcador de contenido 4"/>
          <p:cNvGraphicFramePr>
            <a:graphicFrameLocks noGrp="1"/>
          </p:cNvGraphicFramePr>
          <p:nvPr>
            <p:ph idx="1"/>
            <p:extLst>
              <p:ext uri="{D42A27DB-BD31-4B8C-83A1-F6EECF244321}">
                <p14:modId xmlns:p14="http://schemas.microsoft.com/office/powerpoint/2010/main" val="3430383042"/>
              </p:ext>
            </p:extLst>
          </p:nvPr>
        </p:nvGraphicFramePr>
        <p:xfrm>
          <a:off x="838200" y="1690688"/>
          <a:ext cx="10515600" cy="2018247"/>
        </p:xfrm>
        <a:graphic>
          <a:graphicData uri="http://schemas.openxmlformats.org/drawingml/2006/table">
            <a:tbl>
              <a:tblPr firstRow="1" bandRow="1">
                <a:tableStyleId>{073A0DAA-6AF3-43AB-8588-CEC1D06C72B9}</a:tableStyleId>
              </a:tblPr>
              <a:tblGrid>
                <a:gridCol w="3505200">
                  <a:extLst>
                    <a:ext uri="{9D8B030D-6E8A-4147-A177-3AD203B41FA5}">
                      <a16:colId xmlns:a16="http://schemas.microsoft.com/office/drawing/2014/main" val="3756756076"/>
                    </a:ext>
                  </a:extLst>
                </a:gridCol>
                <a:gridCol w="3505200">
                  <a:extLst>
                    <a:ext uri="{9D8B030D-6E8A-4147-A177-3AD203B41FA5}">
                      <a16:colId xmlns:a16="http://schemas.microsoft.com/office/drawing/2014/main" val="355378619"/>
                    </a:ext>
                  </a:extLst>
                </a:gridCol>
                <a:gridCol w="3505200">
                  <a:extLst>
                    <a:ext uri="{9D8B030D-6E8A-4147-A177-3AD203B41FA5}">
                      <a16:colId xmlns:a16="http://schemas.microsoft.com/office/drawing/2014/main" val="1428784095"/>
                    </a:ext>
                  </a:extLst>
                </a:gridCol>
              </a:tblGrid>
              <a:tr h="555207">
                <a:tc>
                  <a:txBody>
                    <a:bodyPr/>
                    <a:lstStyle/>
                    <a:p>
                      <a:r>
                        <a:rPr lang="en-US" dirty="0">
                          <a:latin typeface="Calibri" panose="020F0502020204030204" pitchFamily="34" charset="0"/>
                          <a:cs typeface="Calibri" panose="020F0502020204030204" pitchFamily="34" charset="0"/>
                        </a:rPr>
                        <a:t>Variable</a:t>
                      </a:r>
                    </a:p>
                  </a:txBody>
                  <a:tcPr anchor="ctr"/>
                </a:tc>
                <a:tc>
                  <a:txBody>
                    <a:bodyPr/>
                    <a:lstStyle/>
                    <a:p>
                      <a:r>
                        <a:rPr lang="en-US" dirty="0" err="1">
                          <a:latin typeface="Calibri" panose="020F0502020204030204" pitchFamily="34" charset="0"/>
                          <a:cs typeface="Calibri" panose="020F0502020204030204" pitchFamily="34" charset="0"/>
                        </a:rPr>
                        <a:t>Observaciones</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faltantes</a:t>
                      </a:r>
                      <a:endParaRPr lang="en-US" dirty="0">
                        <a:latin typeface="Calibri" panose="020F0502020204030204" pitchFamily="34" charset="0"/>
                        <a:cs typeface="Calibri" panose="020F0502020204030204" pitchFamily="34" charset="0"/>
                      </a:endParaRPr>
                    </a:p>
                  </a:txBody>
                  <a:tcPr anchor="ctr"/>
                </a:tc>
                <a:tc>
                  <a:txBody>
                    <a:bodyPr/>
                    <a:lstStyle/>
                    <a:p>
                      <a:r>
                        <a:rPr lang="en-US" dirty="0" err="1" smtClean="0">
                          <a:latin typeface="Calibri" panose="020F0502020204030204" pitchFamily="34" charset="0"/>
                          <a:cs typeface="Calibri" panose="020F0502020204030204" pitchFamily="34" charset="0"/>
                        </a:rPr>
                        <a:t>Porcentaje</a:t>
                      </a:r>
                      <a:r>
                        <a:rPr lang="en-US" dirty="0" smtClean="0">
                          <a:latin typeface="Calibri" panose="020F0502020204030204" pitchFamily="34" charset="0"/>
                          <a:cs typeface="Calibri" panose="020F0502020204030204" pitchFamily="34" charset="0"/>
                        </a:rPr>
                        <a:t> </a:t>
                      </a:r>
                      <a:r>
                        <a:rPr lang="en-US" dirty="0" err="1" smtClean="0">
                          <a:latin typeface="Calibri" panose="020F0502020204030204" pitchFamily="34" charset="0"/>
                          <a:cs typeface="Calibri" panose="020F0502020204030204" pitchFamily="34" charset="0"/>
                        </a:rPr>
                        <a:t>faltante</a:t>
                      </a:r>
                      <a:r>
                        <a:rPr lang="en-US" baseline="0" dirty="0" smtClean="0">
                          <a:latin typeface="Calibri" panose="020F0502020204030204" pitchFamily="34" charset="0"/>
                          <a:cs typeface="Calibri" panose="020F0502020204030204" pitchFamily="34" charset="0"/>
                        </a:rPr>
                        <a:t> </a:t>
                      </a:r>
                      <a:endParaRPr lang="en-US"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469325455"/>
                  </a:ext>
                </a:extLst>
              </a:tr>
              <a:tr h="0">
                <a:tc>
                  <a:txBody>
                    <a:bodyPr/>
                    <a:lstStyle/>
                    <a:p>
                      <a:r>
                        <a:rPr lang="en-US" dirty="0" err="1">
                          <a:latin typeface="Calibri" panose="020F0502020204030204" pitchFamily="34" charset="0"/>
                          <a:cs typeface="Calibri" panose="020F0502020204030204" pitchFamily="34" charset="0"/>
                        </a:rPr>
                        <a:t>Coeficiente</a:t>
                      </a:r>
                      <a:r>
                        <a:rPr lang="en-US" dirty="0">
                          <a:latin typeface="Calibri" panose="020F0502020204030204" pitchFamily="34" charset="0"/>
                          <a:cs typeface="Calibri" panose="020F0502020204030204" pitchFamily="34" charset="0"/>
                        </a:rPr>
                        <a:t> de Gini</a:t>
                      </a:r>
                    </a:p>
                  </a:txBody>
                  <a:tcPr anchor="ctr"/>
                </a:tc>
                <a:tc>
                  <a:txBody>
                    <a:bodyPr/>
                    <a:lstStyle/>
                    <a:p>
                      <a:r>
                        <a:rPr lang="en-US">
                          <a:latin typeface="Calibri" panose="020F0502020204030204" pitchFamily="34" charset="0"/>
                          <a:cs typeface="Calibri" panose="020F0502020204030204" pitchFamily="34" charset="0"/>
                        </a:rPr>
                        <a:t>343</a:t>
                      </a:r>
                    </a:p>
                  </a:txBody>
                  <a:tcPr anchor="ctr"/>
                </a:tc>
                <a:tc>
                  <a:txBody>
                    <a:bodyPr/>
                    <a:lstStyle/>
                    <a:p>
                      <a:r>
                        <a:rPr lang="en-US" dirty="0" smtClean="0">
                          <a:latin typeface="Calibri" panose="020F0502020204030204" pitchFamily="34" charset="0"/>
                          <a:cs typeface="Calibri" panose="020F0502020204030204" pitchFamily="34" charset="0"/>
                        </a:rPr>
                        <a:t>42,3</a:t>
                      </a:r>
                      <a:endParaRPr lang="en-US"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433954562"/>
                  </a:ext>
                </a:extLst>
              </a:tr>
              <a:tr h="0">
                <a:tc>
                  <a:txBody>
                    <a:bodyPr/>
                    <a:lstStyle/>
                    <a:p>
                      <a:r>
                        <a:rPr lang="en-US" dirty="0">
                          <a:latin typeface="Calibri" panose="020F0502020204030204" pitchFamily="34" charset="0"/>
                          <a:cs typeface="Calibri" panose="020F0502020204030204" pitchFamily="34" charset="0"/>
                        </a:rPr>
                        <a:t>PBI per </a:t>
                      </a:r>
                      <a:r>
                        <a:rPr lang="en-US" dirty="0" err="1">
                          <a:latin typeface="Calibri" panose="020F0502020204030204" pitchFamily="34" charset="0"/>
                          <a:cs typeface="Calibri" panose="020F0502020204030204" pitchFamily="34" charset="0"/>
                        </a:rPr>
                        <a:t>cápita</a:t>
                      </a:r>
                      <a:endParaRPr lang="en-US" dirty="0">
                        <a:latin typeface="Calibri" panose="020F0502020204030204" pitchFamily="34" charset="0"/>
                        <a:cs typeface="Calibri" panose="020F0502020204030204" pitchFamily="34" charset="0"/>
                      </a:endParaRPr>
                    </a:p>
                  </a:txBody>
                  <a:tcPr anchor="ctr"/>
                </a:tc>
                <a:tc>
                  <a:txBody>
                    <a:bodyPr/>
                    <a:lstStyle/>
                    <a:p>
                      <a:r>
                        <a:rPr lang="en-US" dirty="0">
                          <a:latin typeface="Calibri" panose="020F0502020204030204" pitchFamily="34" charset="0"/>
                          <a:cs typeface="Calibri" panose="020F0502020204030204" pitchFamily="34" charset="0"/>
                        </a:rPr>
                        <a:t>0</a:t>
                      </a:r>
                    </a:p>
                  </a:txBody>
                  <a:tcPr anchor="ctr"/>
                </a:tc>
                <a:tc>
                  <a:txBody>
                    <a:bodyPr/>
                    <a:lstStyle/>
                    <a:p>
                      <a:r>
                        <a:rPr lang="en-US" dirty="0" smtClean="0">
                          <a:latin typeface="Calibri" panose="020F0502020204030204" pitchFamily="34" charset="0"/>
                          <a:cs typeface="Calibri" panose="020F0502020204030204" pitchFamily="34" charset="0"/>
                        </a:rPr>
                        <a:t>0</a:t>
                      </a:r>
                      <a:endParaRPr lang="en-US"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247211644"/>
                  </a:ext>
                </a:extLst>
              </a:tr>
              <a:tr h="0">
                <a:tc>
                  <a:txBody>
                    <a:bodyPr/>
                    <a:lstStyle/>
                    <a:p>
                      <a:r>
                        <a:rPr lang="en-US">
                          <a:latin typeface="Calibri" panose="020F0502020204030204" pitchFamily="34" charset="0"/>
                          <a:cs typeface="Calibri" panose="020F0502020204030204" pitchFamily="34" charset="0"/>
                        </a:rPr>
                        <a:t>Población</a:t>
                      </a:r>
                    </a:p>
                  </a:txBody>
                  <a:tcPr anchor="ctr"/>
                </a:tc>
                <a:tc>
                  <a:txBody>
                    <a:bodyPr/>
                    <a:lstStyle/>
                    <a:p>
                      <a:r>
                        <a:rPr lang="en-US">
                          <a:latin typeface="Calibri" panose="020F0502020204030204" pitchFamily="34" charset="0"/>
                          <a:cs typeface="Calibri" panose="020F0502020204030204" pitchFamily="34" charset="0"/>
                        </a:rPr>
                        <a:t>0</a:t>
                      </a:r>
                    </a:p>
                  </a:txBody>
                  <a:tcPr anchor="ctr"/>
                </a:tc>
                <a:tc>
                  <a:txBody>
                    <a:bodyPr/>
                    <a:lstStyle/>
                    <a:p>
                      <a:r>
                        <a:rPr lang="en-US" dirty="0" smtClean="0">
                          <a:latin typeface="Calibri" panose="020F0502020204030204" pitchFamily="34" charset="0"/>
                          <a:cs typeface="Calibri" panose="020F0502020204030204" pitchFamily="34" charset="0"/>
                        </a:rPr>
                        <a:t>0</a:t>
                      </a:r>
                      <a:endParaRPr lang="en-US"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846578482"/>
                  </a:ext>
                </a:extLst>
              </a:tr>
              <a:tr h="0">
                <a:tc>
                  <a:txBody>
                    <a:bodyPr/>
                    <a:lstStyle/>
                    <a:p>
                      <a:r>
                        <a:rPr lang="en-US">
                          <a:latin typeface="Calibri" panose="020F0502020204030204" pitchFamily="34" charset="0"/>
                          <a:cs typeface="Calibri" panose="020F0502020204030204" pitchFamily="34" charset="0"/>
                        </a:rPr>
                        <a:t>Índice de PBI industrial per cápita</a:t>
                      </a:r>
                    </a:p>
                  </a:txBody>
                  <a:tcPr anchor="ctr"/>
                </a:tc>
                <a:tc>
                  <a:txBody>
                    <a:bodyPr/>
                    <a:lstStyle/>
                    <a:p>
                      <a:r>
                        <a:rPr lang="en-US">
                          <a:latin typeface="Calibri" panose="020F0502020204030204" pitchFamily="34" charset="0"/>
                          <a:cs typeface="Calibri" panose="020F0502020204030204" pitchFamily="34" charset="0"/>
                        </a:rPr>
                        <a:t>0</a:t>
                      </a:r>
                    </a:p>
                  </a:txBody>
                  <a:tcPr anchor="ctr"/>
                </a:tc>
                <a:tc>
                  <a:txBody>
                    <a:bodyPr/>
                    <a:lstStyle/>
                    <a:p>
                      <a:r>
                        <a:rPr lang="en-US" dirty="0" smtClean="0">
                          <a:latin typeface="Calibri" panose="020F0502020204030204" pitchFamily="34" charset="0"/>
                          <a:cs typeface="Calibri" panose="020F0502020204030204" pitchFamily="34" charset="0"/>
                        </a:rPr>
                        <a:t>0</a:t>
                      </a:r>
                      <a:endParaRPr lang="en-US"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39209613"/>
                  </a:ext>
                </a:extLst>
              </a:tr>
            </a:tbl>
          </a:graphicData>
        </a:graphic>
      </p:graphicFrame>
      <p:sp>
        <p:nvSpPr>
          <p:cNvPr id="6" name="CuadroTexto 5"/>
          <p:cNvSpPr txBox="1"/>
          <p:nvPr/>
        </p:nvSpPr>
        <p:spPr>
          <a:xfrm>
            <a:off x="838200" y="4207659"/>
            <a:ext cx="10515600" cy="1200329"/>
          </a:xfrm>
          <a:prstGeom prst="rect">
            <a:avLst/>
          </a:prstGeom>
          <a:noFill/>
        </p:spPr>
        <p:txBody>
          <a:bodyPr wrap="square" rtlCol="0">
            <a:spAutoFit/>
          </a:bodyPr>
          <a:lstStyle/>
          <a:p>
            <a:r>
              <a:rPr lang="es-ES" dirty="0" smtClean="0">
                <a:latin typeface="Calibri" panose="020F0502020204030204" pitchFamily="34" charset="0"/>
                <a:cs typeface="Calibri" panose="020F0502020204030204" pitchFamily="34" charset="0"/>
              </a:rPr>
              <a:t>El coeficiente de </a:t>
            </a:r>
            <a:r>
              <a:rPr lang="es-ES" dirty="0" err="1" smtClean="0">
                <a:latin typeface="Calibri" panose="020F0502020204030204" pitchFamily="34" charset="0"/>
                <a:cs typeface="Calibri" panose="020F0502020204030204" pitchFamily="34" charset="0"/>
              </a:rPr>
              <a:t>Gini</a:t>
            </a:r>
            <a:r>
              <a:rPr lang="es-ES" dirty="0" smtClean="0">
                <a:latin typeface="Calibri" panose="020F0502020204030204" pitchFamily="34" charset="0"/>
                <a:cs typeface="Calibri" panose="020F0502020204030204" pitchFamily="34" charset="0"/>
              </a:rPr>
              <a:t> concentra la proporción de datos faltantes del panel, lo cual es consistente con la periodicidad irregular de su relevamiento en la mayoría de los países. Esta limitación motivó el uso de años de referencia, en lugar de exigir series temporales completas, tal como se detalla en la </a:t>
            </a:r>
            <a:r>
              <a:rPr lang="es-ES" dirty="0" err="1" smtClean="0">
                <a:latin typeface="Calibri" panose="020F0502020204030204" pitchFamily="34" charset="0"/>
                <a:cs typeface="Calibri" panose="020F0502020204030204" pitchFamily="34" charset="0"/>
              </a:rPr>
              <a:t>slide</a:t>
            </a:r>
            <a:r>
              <a:rPr lang="es-ES" dirty="0" smtClean="0">
                <a:latin typeface="Calibri" panose="020F0502020204030204" pitchFamily="34" charset="0"/>
                <a:cs typeface="Calibri" panose="020F0502020204030204" pitchFamily="34" charset="0"/>
              </a:rPr>
              <a:t> 16.</a:t>
            </a:r>
          </a:p>
          <a:p>
            <a:endParaRPr lang="es-ES" dirty="0"/>
          </a:p>
        </p:txBody>
      </p:sp>
    </p:spTree>
    <p:extLst>
      <p:ext uri="{BB962C8B-B14F-4D97-AF65-F5344CB8AC3E}">
        <p14:creationId xmlns:p14="http://schemas.microsoft.com/office/powerpoint/2010/main" val="124704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3000" b="1" dirty="0" err="1" smtClean="0">
                <a:solidFill>
                  <a:srgbClr val="1A1A1A"/>
                </a:solidFill>
                <a:latin typeface="Cambria" panose="02040503050406030204" pitchFamily="18" charset="0"/>
                <a:cs typeface="Cambria" panose="02040503050406030204" pitchFamily="18" charset="0"/>
              </a:rPr>
              <a:t>Outliers</a:t>
            </a:r>
            <a:endParaRPr lang="es-ES" sz="3000" b="1" dirty="0">
              <a:solidFill>
                <a:srgbClr val="1A1A1A"/>
              </a:solidFill>
              <a:latin typeface="Cambria" panose="02040503050406030204" pitchFamily="18" charset="0"/>
              <a:cs typeface="Cambria" panose="02040503050406030204" pitchFamily="18" charset="0"/>
            </a:endParaRP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745483176"/>
              </p:ext>
            </p:extLst>
          </p:nvPr>
        </p:nvGraphicFramePr>
        <p:xfrm>
          <a:off x="838200" y="1690688"/>
          <a:ext cx="10515600" cy="1652487"/>
        </p:xfrm>
        <a:graphic>
          <a:graphicData uri="http://schemas.openxmlformats.org/drawingml/2006/table">
            <a:tbl>
              <a:tblPr firstRow="1" bandRow="1">
                <a:tableStyleId>{073A0DAA-6AF3-43AB-8588-CEC1D06C72B9}</a:tableStyleId>
              </a:tblPr>
              <a:tblGrid>
                <a:gridCol w="5257800">
                  <a:extLst>
                    <a:ext uri="{9D8B030D-6E8A-4147-A177-3AD203B41FA5}">
                      <a16:colId xmlns:a16="http://schemas.microsoft.com/office/drawing/2014/main" val="616688229"/>
                    </a:ext>
                  </a:extLst>
                </a:gridCol>
                <a:gridCol w="5257800">
                  <a:extLst>
                    <a:ext uri="{9D8B030D-6E8A-4147-A177-3AD203B41FA5}">
                      <a16:colId xmlns:a16="http://schemas.microsoft.com/office/drawing/2014/main" val="2723241240"/>
                    </a:ext>
                  </a:extLst>
                </a:gridCol>
              </a:tblGrid>
              <a:tr h="555207">
                <a:tc>
                  <a:txBody>
                    <a:bodyPr/>
                    <a:lstStyle/>
                    <a:p>
                      <a:r>
                        <a:rPr lang="en-US" dirty="0">
                          <a:latin typeface="Calibri" panose="020F0502020204030204" pitchFamily="34" charset="0"/>
                          <a:cs typeface="Calibri" panose="020F0502020204030204" pitchFamily="34" charset="0"/>
                        </a:rPr>
                        <a:t>Variable</a:t>
                      </a:r>
                    </a:p>
                  </a:txBody>
                  <a:tcPr anchor="ctr"/>
                </a:tc>
                <a:tc>
                  <a:txBody>
                    <a:bodyPr/>
                    <a:lstStyle/>
                    <a:p>
                      <a:r>
                        <a:rPr lang="en-US" dirty="0">
                          <a:latin typeface="Calibri" panose="020F0502020204030204" pitchFamily="34" charset="0"/>
                          <a:cs typeface="Calibri" panose="020F0502020204030204" pitchFamily="34" charset="0"/>
                        </a:rPr>
                        <a:t>Outliers </a:t>
                      </a:r>
                      <a:r>
                        <a:rPr lang="en-US" dirty="0" err="1">
                          <a:latin typeface="Calibri" panose="020F0502020204030204" pitchFamily="34" charset="0"/>
                          <a:cs typeface="Calibri" panose="020F0502020204030204" pitchFamily="34" charset="0"/>
                        </a:rPr>
                        <a:t>detectados</a:t>
                      </a:r>
                      <a:endParaRPr lang="en-US"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56200516"/>
                  </a:ext>
                </a:extLst>
              </a:tr>
              <a:tr h="0">
                <a:tc>
                  <a:txBody>
                    <a:bodyPr/>
                    <a:lstStyle/>
                    <a:p>
                      <a:r>
                        <a:rPr lang="en-US">
                          <a:latin typeface="Calibri" panose="020F0502020204030204" pitchFamily="34" charset="0"/>
                          <a:cs typeface="Calibri" panose="020F0502020204030204" pitchFamily="34" charset="0"/>
                        </a:rPr>
                        <a:t>Coeficiente de Gini</a:t>
                      </a:r>
                    </a:p>
                  </a:txBody>
                  <a:tcPr anchor="ctr"/>
                </a:tc>
                <a:tc>
                  <a:txBody>
                    <a:bodyPr/>
                    <a:lstStyle/>
                    <a:p>
                      <a:r>
                        <a:rPr lang="en-US">
                          <a:latin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142063650"/>
                  </a:ext>
                </a:extLst>
              </a:tr>
              <a:tr h="0">
                <a:tc>
                  <a:txBody>
                    <a:bodyPr/>
                    <a:lstStyle/>
                    <a:p>
                      <a:r>
                        <a:rPr lang="en-US">
                          <a:latin typeface="Calibri" panose="020F0502020204030204" pitchFamily="34" charset="0"/>
                          <a:cs typeface="Calibri" panose="020F0502020204030204" pitchFamily="34" charset="0"/>
                        </a:rPr>
                        <a:t>Índice de PBI industrial per cápita</a:t>
                      </a:r>
                    </a:p>
                  </a:txBody>
                  <a:tcPr anchor="ctr"/>
                </a:tc>
                <a:tc>
                  <a:txBody>
                    <a:bodyPr/>
                    <a:lstStyle/>
                    <a:p>
                      <a:r>
                        <a:rPr lang="es-ES">
                          <a:latin typeface="Calibri" panose="020F0502020204030204" pitchFamily="34" charset="0"/>
                          <a:cs typeface="Calibri" panose="020F0502020204030204" pitchFamily="34" charset="0"/>
                        </a:rPr>
                        <a:t>153 (sobre 810 observaciones país y año)</a:t>
                      </a:r>
                    </a:p>
                  </a:txBody>
                  <a:tcPr anchor="ctr"/>
                </a:tc>
                <a:extLst>
                  <a:ext uri="{0D108BD9-81ED-4DB2-BD59-A6C34878D82A}">
                    <a16:rowId xmlns:a16="http://schemas.microsoft.com/office/drawing/2014/main" val="3936969591"/>
                  </a:ext>
                </a:extLst>
              </a:tr>
              <a:tr h="0">
                <a:tc>
                  <a:txBody>
                    <a:bodyPr/>
                    <a:lstStyle/>
                    <a:p>
                      <a:r>
                        <a:rPr lang="en-US">
                          <a:latin typeface="Calibri" panose="020F0502020204030204" pitchFamily="34" charset="0"/>
                          <a:cs typeface="Calibri" panose="020F0502020204030204" pitchFamily="34" charset="0"/>
                        </a:rPr>
                        <a:t>PBI per cápita</a:t>
                      </a:r>
                    </a:p>
                  </a:txBody>
                  <a:tcPr anchor="ctr"/>
                </a:tc>
                <a:tc>
                  <a:txBody>
                    <a:bodyPr/>
                    <a:lstStyle/>
                    <a:p>
                      <a:r>
                        <a:rPr lang="en-US" dirty="0">
                          <a:latin typeface="Calibri" panose="020F0502020204030204" pitchFamily="34" charset="0"/>
                          <a:cs typeface="Calibri" panose="020F0502020204030204" pitchFamily="34" charset="0"/>
                        </a:rPr>
                        <a:t>10</a:t>
                      </a:r>
                    </a:p>
                  </a:txBody>
                  <a:tcPr anchor="ctr"/>
                </a:tc>
                <a:extLst>
                  <a:ext uri="{0D108BD9-81ED-4DB2-BD59-A6C34878D82A}">
                    <a16:rowId xmlns:a16="http://schemas.microsoft.com/office/drawing/2014/main" val="3472558526"/>
                  </a:ext>
                </a:extLst>
              </a:tr>
            </a:tbl>
          </a:graphicData>
        </a:graphic>
      </p:graphicFrame>
      <p:sp>
        <p:nvSpPr>
          <p:cNvPr id="5" name="CuadroTexto 4"/>
          <p:cNvSpPr txBox="1"/>
          <p:nvPr/>
        </p:nvSpPr>
        <p:spPr>
          <a:xfrm>
            <a:off x="838200" y="3504279"/>
            <a:ext cx="10515599" cy="2585323"/>
          </a:xfrm>
          <a:prstGeom prst="rect">
            <a:avLst/>
          </a:prstGeom>
          <a:noFill/>
        </p:spPr>
        <p:txBody>
          <a:bodyPr wrap="square" rtlCol="0">
            <a:spAutoFit/>
          </a:bodyPr>
          <a:lstStyle/>
          <a:p>
            <a:r>
              <a:rPr lang="es-ES" b="1" dirty="0" smtClean="0">
                <a:latin typeface="Calibri" panose="020F0502020204030204" pitchFamily="34" charset="0"/>
                <a:cs typeface="Calibri" panose="020F0502020204030204" pitchFamily="34" charset="0"/>
              </a:rPr>
              <a:t>Aclaración metodológica:</a:t>
            </a:r>
            <a:r>
              <a:rPr lang="es-ES" dirty="0" smtClean="0">
                <a:latin typeface="Calibri" panose="020F0502020204030204" pitchFamily="34" charset="0"/>
                <a:cs typeface="Calibri" panose="020F0502020204030204" pitchFamily="34" charset="0"/>
              </a:rPr>
              <a:t> el criterio de rango </a:t>
            </a:r>
            <a:r>
              <a:rPr lang="es-ES" dirty="0" err="1" smtClean="0">
                <a:latin typeface="Calibri" panose="020F0502020204030204" pitchFamily="34" charset="0"/>
                <a:cs typeface="Calibri" panose="020F0502020204030204" pitchFamily="34" charset="0"/>
              </a:rPr>
              <a:t>intercuartílico</a:t>
            </a:r>
            <a:r>
              <a:rPr lang="es-ES" dirty="0" smtClean="0">
                <a:latin typeface="Calibri" panose="020F0502020204030204" pitchFamily="34" charset="0"/>
                <a:cs typeface="Calibri" panose="020F0502020204030204" pitchFamily="34" charset="0"/>
              </a:rPr>
              <a:t> se aplicó sobre el panel completo, es decir, sobre todas las combinaciones de país y año disponibles, no únicamente sobre el corte de 2023. El número elevado de </a:t>
            </a:r>
            <a:r>
              <a:rPr lang="es-ES" dirty="0" err="1" smtClean="0">
                <a:latin typeface="Calibri" panose="020F0502020204030204" pitchFamily="34" charset="0"/>
                <a:cs typeface="Calibri" panose="020F0502020204030204" pitchFamily="34" charset="0"/>
              </a:rPr>
              <a:t>outliers</a:t>
            </a:r>
            <a:r>
              <a:rPr lang="es-ES" dirty="0" smtClean="0">
                <a:latin typeface="Calibri" panose="020F0502020204030204" pitchFamily="34" charset="0"/>
                <a:cs typeface="Calibri" panose="020F0502020204030204" pitchFamily="34" charset="0"/>
              </a:rPr>
              <a:t> detectados en el índice industrial no constituye un error de cálculo refleja que, a lo largo de más de cinco décadas, distintos países atraviesan períodos con valores del índice considerablemente alejados del rango habitual del panel, en función de sus respectivos procesos de industrialización.</a:t>
            </a:r>
          </a:p>
          <a:p>
            <a:r>
              <a:rPr lang="es-ES" dirty="0" smtClean="0">
                <a:latin typeface="Calibri" panose="020F0502020204030204" pitchFamily="34" charset="0"/>
                <a:cs typeface="Calibri" panose="020F0502020204030204" pitchFamily="34" charset="0"/>
              </a:rPr>
              <a:t>China se encuentra entre los casos comprendidos en este conjunto y se mantiene en el análisis. Su condición de valor atípico no responde a un error de medición, sino al fenómeno de industrialización acelerada que constituye uno de los objetos de estudio centrales del trabajo.</a:t>
            </a:r>
          </a:p>
          <a:p>
            <a:endParaRPr lang="es-ES" dirty="0"/>
          </a:p>
        </p:txBody>
      </p:sp>
    </p:spTree>
    <p:extLst>
      <p:ext uri="{BB962C8B-B14F-4D97-AF65-F5344CB8AC3E}">
        <p14:creationId xmlns:p14="http://schemas.microsoft.com/office/powerpoint/2010/main" val="2594161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74638"/>
            <a:ext cx="10515600" cy="830529"/>
          </a:xfrm>
        </p:spPr>
        <p:txBody>
          <a:bodyPr>
            <a:normAutofit/>
          </a:bodyPr>
          <a:lstStyle/>
          <a:p>
            <a:pPr algn="ctr"/>
            <a:r>
              <a:rPr lang="es-ES" sz="3000" b="1" dirty="0" err="1" smtClean="0">
                <a:solidFill>
                  <a:srgbClr val="1A1A1A"/>
                </a:solidFill>
                <a:latin typeface="Cambria" panose="02040503050406030204" pitchFamily="18" charset="0"/>
                <a:cs typeface="Cambria" panose="02040503050406030204" pitchFamily="18" charset="0"/>
              </a:rPr>
              <a:t>Estadisticas</a:t>
            </a:r>
            <a:r>
              <a:rPr lang="es-ES" sz="3000" b="1" dirty="0" smtClean="0">
                <a:solidFill>
                  <a:srgbClr val="1A1A1A"/>
                </a:solidFill>
                <a:latin typeface="Cambria" panose="02040503050406030204" pitchFamily="18" charset="0"/>
                <a:cs typeface="Cambria" panose="02040503050406030204" pitchFamily="18" charset="0"/>
              </a:rPr>
              <a:t> con y sin </a:t>
            </a:r>
            <a:r>
              <a:rPr lang="es-ES" sz="3000" b="1" dirty="0" err="1" smtClean="0">
                <a:solidFill>
                  <a:srgbClr val="1A1A1A"/>
                </a:solidFill>
                <a:latin typeface="Cambria" panose="02040503050406030204" pitchFamily="18" charset="0"/>
                <a:cs typeface="Cambria" panose="02040503050406030204" pitchFamily="18" charset="0"/>
              </a:rPr>
              <a:t>outliers</a:t>
            </a:r>
            <a:r>
              <a:rPr lang="es-ES" sz="3000" b="1" dirty="0" smtClean="0">
                <a:solidFill>
                  <a:srgbClr val="1A1A1A"/>
                </a:solidFill>
                <a:latin typeface="Cambria" panose="02040503050406030204" pitchFamily="18" charset="0"/>
                <a:cs typeface="Cambria" panose="02040503050406030204" pitchFamily="18" charset="0"/>
              </a:rPr>
              <a:t> </a:t>
            </a:r>
            <a:endParaRPr lang="es-ES" sz="3000" b="1" dirty="0">
              <a:solidFill>
                <a:srgbClr val="1A1A1A"/>
              </a:solidFill>
              <a:latin typeface="Cambria" panose="02040503050406030204" pitchFamily="18" charset="0"/>
              <a:cs typeface="Cambria" panose="02040503050406030204" pitchFamily="18" charset="0"/>
            </a:endParaRPr>
          </a:p>
        </p:txBody>
      </p:sp>
      <p:graphicFrame>
        <p:nvGraphicFramePr>
          <p:cNvPr id="4" name="Tabla 3"/>
          <p:cNvGraphicFramePr>
            <a:graphicFrameLocks noGrp="1"/>
          </p:cNvGraphicFramePr>
          <p:nvPr>
            <p:extLst>
              <p:ext uri="{D42A27DB-BD31-4B8C-83A1-F6EECF244321}">
                <p14:modId xmlns:p14="http://schemas.microsoft.com/office/powerpoint/2010/main" val="1760198751"/>
              </p:ext>
            </p:extLst>
          </p:nvPr>
        </p:nvGraphicFramePr>
        <p:xfrm>
          <a:off x="838200" y="3464741"/>
          <a:ext cx="10515600" cy="1280160"/>
        </p:xfrm>
        <a:graphic>
          <a:graphicData uri="http://schemas.openxmlformats.org/drawingml/2006/table">
            <a:tbl>
              <a:tblPr firstRow="1" bandRow="1">
                <a:tableStyleId>{073A0DAA-6AF3-43AB-8588-CEC1D06C72B9}</a:tableStyleId>
              </a:tblPr>
              <a:tblGrid>
                <a:gridCol w="3505200">
                  <a:extLst>
                    <a:ext uri="{9D8B030D-6E8A-4147-A177-3AD203B41FA5}">
                      <a16:colId xmlns:a16="http://schemas.microsoft.com/office/drawing/2014/main" val="2167121678"/>
                    </a:ext>
                  </a:extLst>
                </a:gridCol>
                <a:gridCol w="3505200">
                  <a:extLst>
                    <a:ext uri="{9D8B030D-6E8A-4147-A177-3AD203B41FA5}">
                      <a16:colId xmlns:a16="http://schemas.microsoft.com/office/drawing/2014/main" val="3819320353"/>
                    </a:ext>
                  </a:extLst>
                </a:gridCol>
                <a:gridCol w="3505200">
                  <a:extLst>
                    <a:ext uri="{9D8B030D-6E8A-4147-A177-3AD203B41FA5}">
                      <a16:colId xmlns:a16="http://schemas.microsoft.com/office/drawing/2014/main" val="419187976"/>
                    </a:ext>
                  </a:extLst>
                </a:gridCol>
              </a:tblGrid>
              <a:tr h="0">
                <a:tc>
                  <a:txBody>
                    <a:bodyPr/>
                    <a:lstStyle/>
                    <a:p>
                      <a:r>
                        <a:rPr lang="en-US" sz="1500" dirty="0" err="1">
                          <a:latin typeface="Calibri" panose="020F0502020204030204" pitchFamily="34" charset="0"/>
                          <a:cs typeface="Calibri" panose="020F0502020204030204" pitchFamily="34" charset="0"/>
                        </a:rPr>
                        <a:t>Indicador</a:t>
                      </a:r>
                      <a:endParaRPr lang="en-US" sz="1500" dirty="0">
                        <a:latin typeface="Calibri" panose="020F0502020204030204" pitchFamily="34" charset="0"/>
                        <a:cs typeface="Calibri" panose="020F0502020204030204" pitchFamily="34" charset="0"/>
                      </a:endParaRPr>
                    </a:p>
                  </a:txBody>
                  <a:tcPr anchor="ctr"/>
                </a:tc>
                <a:tc>
                  <a:txBody>
                    <a:bodyPr/>
                    <a:lstStyle/>
                    <a:p>
                      <a:r>
                        <a:rPr lang="en-US" sz="1500" dirty="0">
                          <a:latin typeface="Calibri" panose="020F0502020204030204" pitchFamily="34" charset="0"/>
                          <a:cs typeface="Calibri" panose="020F0502020204030204" pitchFamily="34" charset="0"/>
                        </a:rPr>
                        <a:t>Con China (60 </a:t>
                      </a:r>
                      <a:r>
                        <a:rPr lang="en-US" sz="1500" dirty="0" err="1">
                          <a:latin typeface="Calibri" panose="020F0502020204030204" pitchFamily="34" charset="0"/>
                          <a:cs typeface="Calibri" panose="020F0502020204030204" pitchFamily="34" charset="0"/>
                        </a:rPr>
                        <a:t>observaciones</a:t>
                      </a:r>
                      <a:r>
                        <a:rPr lang="en-US" sz="1500" dirty="0">
                          <a:latin typeface="Calibri" panose="020F0502020204030204" pitchFamily="34" charset="0"/>
                          <a:cs typeface="Calibri" panose="020F0502020204030204" pitchFamily="34" charset="0"/>
                        </a:rPr>
                        <a:t>)</a:t>
                      </a:r>
                    </a:p>
                  </a:txBody>
                  <a:tcPr anchor="ctr"/>
                </a:tc>
                <a:tc>
                  <a:txBody>
                    <a:bodyPr/>
                    <a:lstStyle/>
                    <a:p>
                      <a:r>
                        <a:rPr lang="en-US" sz="1500">
                          <a:latin typeface="Calibri" panose="020F0502020204030204" pitchFamily="34" charset="0"/>
                          <a:cs typeface="Calibri" panose="020F0502020204030204" pitchFamily="34" charset="0"/>
                        </a:rPr>
                        <a:t>Sin China (56 observaciones)</a:t>
                      </a:r>
                    </a:p>
                  </a:txBody>
                  <a:tcPr anchor="ctr"/>
                </a:tc>
                <a:extLst>
                  <a:ext uri="{0D108BD9-81ED-4DB2-BD59-A6C34878D82A}">
                    <a16:rowId xmlns:a16="http://schemas.microsoft.com/office/drawing/2014/main" val="495093926"/>
                  </a:ext>
                </a:extLst>
              </a:tr>
              <a:tr h="0">
                <a:tc>
                  <a:txBody>
                    <a:bodyPr/>
                    <a:lstStyle/>
                    <a:p>
                      <a:r>
                        <a:rPr lang="en-US" sz="1500" dirty="0" err="1" smtClean="0">
                          <a:latin typeface="Calibri" panose="020F0502020204030204" pitchFamily="34" charset="0"/>
                          <a:cs typeface="Calibri" panose="020F0502020204030204" pitchFamily="34" charset="0"/>
                        </a:rPr>
                        <a:t>Coeficiente</a:t>
                      </a:r>
                      <a:endParaRPr lang="en-US" sz="1500" dirty="0">
                        <a:latin typeface="Calibri" panose="020F0502020204030204" pitchFamily="34" charset="0"/>
                        <a:cs typeface="Calibri" panose="020F0502020204030204" pitchFamily="34" charset="0"/>
                      </a:endParaRPr>
                    </a:p>
                  </a:txBody>
                  <a:tcPr anchor="ctr"/>
                </a:tc>
                <a:tc>
                  <a:txBody>
                    <a:bodyPr/>
                    <a:lstStyle/>
                    <a:p>
                      <a:r>
                        <a:rPr lang="en-US" sz="1500" dirty="0" smtClean="0">
                          <a:latin typeface="Calibri" panose="020F0502020204030204" pitchFamily="34" charset="0"/>
                          <a:cs typeface="Calibri" panose="020F0502020204030204" pitchFamily="34" charset="0"/>
                        </a:rPr>
                        <a:t>-0,00128</a:t>
                      </a:r>
                      <a:endParaRPr lang="en-US" sz="1500" dirty="0">
                        <a:latin typeface="Calibri" panose="020F0502020204030204" pitchFamily="34" charset="0"/>
                        <a:cs typeface="Calibri" panose="020F0502020204030204" pitchFamily="34" charset="0"/>
                      </a:endParaRPr>
                    </a:p>
                  </a:txBody>
                  <a:tcPr anchor="ctr"/>
                </a:tc>
                <a:tc>
                  <a:txBody>
                    <a:bodyPr/>
                    <a:lstStyle/>
                    <a:p>
                      <a:r>
                        <a:rPr lang="en-US" sz="1500" dirty="0" smtClean="0">
                          <a:latin typeface="Calibri" panose="020F0502020204030204" pitchFamily="34" charset="0"/>
                          <a:cs typeface="Calibri" panose="020F0502020204030204" pitchFamily="34" charset="0"/>
                        </a:rPr>
                        <a:t>-0,00253</a:t>
                      </a:r>
                      <a:endParaRPr lang="en-US" sz="15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290174309"/>
                  </a:ext>
                </a:extLst>
              </a:tr>
              <a:tr h="0">
                <a:tc>
                  <a:txBody>
                    <a:bodyPr/>
                    <a:lstStyle/>
                    <a:p>
                      <a:r>
                        <a:rPr lang="es-ES" sz="1500" dirty="0">
                          <a:latin typeface="Calibri" panose="020F0502020204030204" pitchFamily="34" charset="0"/>
                          <a:cs typeface="Calibri" panose="020F0502020204030204" pitchFamily="34" charset="0"/>
                        </a:rPr>
                        <a:t>Coeficiente de </a:t>
                      </a:r>
                      <a:r>
                        <a:rPr lang="es-ES" sz="1500" dirty="0" smtClean="0">
                          <a:latin typeface="Calibri" panose="020F0502020204030204" pitchFamily="34" charset="0"/>
                          <a:cs typeface="Calibri" panose="020F0502020204030204" pitchFamily="34" charset="0"/>
                        </a:rPr>
                        <a:t>determinación</a:t>
                      </a:r>
                      <a:r>
                        <a:rPr lang="es-ES" sz="1500" baseline="0" dirty="0" smtClean="0">
                          <a:latin typeface="Calibri" panose="020F0502020204030204" pitchFamily="34" charset="0"/>
                          <a:cs typeface="Calibri" panose="020F0502020204030204" pitchFamily="34" charset="0"/>
                        </a:rPr>
                        <a:t> (</a:t>
                      </a:r>
                      <a:r>
                        <a:rPr lang="en-US" sz="1500" dirty="0" smtClean="0">
                          <a:latin typeface="Calibri" panose="020F0502020204030204" pitchFamily="34" charset="0"/>
                          <a:cs typeface="Calibri" panose="020F0502020204030204" pitchFamily="34" charset="0"/>
                        </a:rPr>
                        <a:t>R²</a:t>
                      </a:r>
                      <a:r>
                        <a:rPr lang="es-ES" sz="1500" baseline="0" dirty="0" smtClean="0">
                          <a:latin typeface="Calibri" panose="020F0502020204030204" pitchFamily="34" charset="0"/>
                          <a:cs typeface="Calibri" panose="020F0502020204030204" pitchFamily="34" charset="0"/>
                        </a:rPr>
                        <a:t>)</a:t>
                      </a:r>
                      <a:endParaRPr lang="es-ES" sz="1500" dirty="0">
                        <a:latin typeface="Calibri" panose="020F0502020204030204" pitchFamily="34" charset="0"/>
                        <a:cs typeface="Calibri" panose="020F0502020204030204" pitchFamily="34" charset="0"/>
                      </a:endParaRPr>
                    </a:p>
                  </a:txBody>
                  <a:tcPr anchor="ctr"/>
                </a:tc>
                <a:tc>
                  <a:txBody>
                    <a:bodyPr/>
                    <a:lstStyle/>
                    <a:p>
                      <a:r>
                        <a:rPr lang="en-US" sz="1500" dirty="0">
                          <a:latin typeface="Calibri" panose="020F0502020204030204" pitchFamily="34" charset="0"/>
                          <a:cs typeface="Calibri" panose="020F0502020204030204" pitchFamily="34" charset="0"/>
                        </a:rPr>
                        <a:t>0,055</a:t>
                      </a:r>
                    </a:p>
                  </a:txBody>
                  <a:tcPr anchor="ctr"/>
                </a:tc>
                <a:tc>
                  <a:txBody>
                    <a:bodyPr/>
                    <a:lstStyle/>
                    <a:p>
                      <a:r>
                        <a:rPr lang="en-US" sz="1500" dirty="0">
                          <a:latin typeface="Calibri" panose="020F0502020204030204" pitchFamily="34" charset="0"/>
                          <a:cs typeface="Calibri" panose="020F0502020204030204" pitchFamily="34" charset="0"/>
                        </a:rPr>
                        <a:t>0,102</a:t>
                      </a:r>
                    </a:p>
                  </a:txBody>
                  <a:tcPr anchor="ctr"/>
                </a:tc>
                <a:extLst>
                  <a:ext uri="{0D108BD9-81ED-4DB2-BD59-A6C34878D82A}">
                    <a16:rowId xmlns:a16="http://schemas.microsoft.com/office/drawing/2014/main" val="1887415352"/>
                  </a:ext>
                </a:extLst>
              </a:tr>
              <a:tr h="0">
                <a:tc>
                  <a:txBody>
                    <a:bodyPr/>
                    <a:lstStyle/>
                    <a:p>
                      <a:r>
                        <a:rPr lang="en-US" sz="1500" dirty="0" smtClean="0">
                          <a:latin typeface="Calibri" panose="020F0502020204030204" pitchFamily="34" charset="0"/>
                          <a:cs typeface="Calibri" panose="020F0502020204030204" pitchFamily="34" charset="0"/>
                        </a:rPr>
                        <a:t>P-Valor</a:t>
                      </a:r>
                      <a:endParaRPr lang="en-US" sz="1500" dirty="0">
                        <a:latin typeface="Calibri" panose="020F0502020204030204" pitchFamily="34" charset="0"/>
                        <a:cs typeface="Calibri" panose="020F0502020204030204" pitchFamily="34" charset="0"/>
                      </a:endParaRPr>
                    </a:p>
                  </a:txBody>
                  <a:tcPr anchor="ctr"/>
                </a:tc>
                <a:tc>
                  <a:txBody>
                    <a:bodyPr/>
                    <a:lstStyle/>
                    <a:p>
                      <a:r>
                        <a:rPr lang="en-US" sz="1500">
                          <a:latin typeface="Calibri" panose="020F0502020204030204" pitchFamily="34" charset="0"/>
                          <a:cs typeface="Calibri" panose="020F0502020204030204" pitchFamily="34" charset="0"/>
                        </a:rPr>
                        <a:t>0,070</a:t>
                      </a:r>
                    </a:p>
                  </a:txBody>
                  <a:tcPr anchor="ctr"/>
                </a:tc>
                <a:tc>
                  <a:txBody>
                    <a:bodyPr/>
                    <a:lstStyle/>
                    <a:p>
                      <a:r>
                        <a:rPr lang="en-US" sz="1500" dirty="0">
                          <a:latin typeface="Calibri" panose="020F0502020204030204" pitchFamily="34" charset="0"/>
                          <a:cs typeface="Calibri" panose="020F0502020204030204" pitchFamily="34" charset="0"/>
                        </a:rPr>
                        <a:t>0,016</a:t>
                      </a:r>
                    </a:p>
                  </a:txBody>
                  <a:tcPr anchor="ctr"/>
                </a:tc>
                <a:extLst>
                  <a:ext uri="{0D108BD9-81ED-4DB2-BD59-A6C34878D82A}">
                    <a16:rowId xmlns:a16="http://schemas.microsoft.com/office/drawing/2014/main" val="3994988781"/>
                  </a:ext>
                </a:extLst>
              </a:tr>
            </a:tbl>
          </a:graphicData>
        </a:graphic>
      </p:graphicFrame>
      <p:graphicFrame>
        <p:nvGraphicFramePr>
          <p:cNvPr id="7" name="Marcador de contenido 6"/>
          <p:cNvGraphicFramePr>
            <a:graphicFrameLocks noGrp="1"/>
          </p:cNvGraphicFramePr>
          <p:nvPr>
            <p:ph idx="1"/>
            <p:extLst>
              <p:ext uri="{D42A27DB-BD31-4B8C-83A1-F6EECF244321}">
                <p14:modId xmlns:p14="http://schemas.microsoft.com/office/powerpoint/2010/main" val="2578104808"/>
              </p:ext>
            </p:extLst>
          </p:nvPr>
        </p:nvGraphicFramePr>
        <p:xfrm>
          <a:off x="838200" y="1424572"/>
          <a:ext cx="10515600" cy="1446126"/>
        </p:xfrm>
        <a:graphic>
          <a:graphicData uri="http://schemas.openxmlformats.org/drawingml/2006/table">
            <a:tbl>
              <a:tblPr firstRow="1" bandRow="1">
                <a:tableStyleId>{073A0DAA-6AF3-43AB-8588-CEC1D06C72B9}</a:tableStyleId>
              </a:tblPr>
              <a:tblGrid>
                <a:gridCol w="2628900">
                  <a:extLst>
                    <a:ext uri="{9D8B030D-6E8A-4147-A177-3AD203B41FA5}">
                      <a16:colId xmlns:a16="http://schemas.microsoft.com/office/drawing/2014/main" val="3153785773"/>
                    </a:ext>
                  </a:extLst>
                </a:gridCol>
                <a:gridCol w="2628900">
                  <a:extLst>
                    <a:ext uri="{9D8B030D-6E8A-4147-A177-3AD203B41FA5}">
                      <a16:colId xmlns:a16="http://schemas.microsoft.com/office/drawing/2014/main" val="3553716664"/>
                    </a:ext>
                  </a:extLst>
                </a:gridCol>
                <a:gridCol w="2628900">
                  <a:extLst>
                    <a:ext uri="{9D8B030D-6E8A-4147-A177-3AD203B41FA5}">
                      <a16:colId xmlns:a16="http://schemas.microsoft.com/office/drawing/2014/main" val="2427005280"/>
                    </a:ext>
                  </a:extLst>
                </a:gridCol>
                <a:gridCol w="2628900">
                  <a:extLst>
                    <a:ext uri="{9D8B030D-6E8A-4147-A177-3AD203B41FA5}">
                      <a16:colId xmlns:a16="http://schemas.microsoft.com/office/drawing/2014/main" val="2603928636"/>
                    </a:ext>
                  </a:extLst>
                </a:gridCol>
              </a:tblGrid>
              <a:tr h="304132">
                <a:tc>
                  <a:txBody>
                    <a:bodyPr/>
                    <a:lstStyle/>
                    <a:p>
                      <a:r>
                        <a:rPr lang="en-US" sz="1500" dirty="0"/>
                        <a:t>Variable</a:t>
                      </a:r>
                    </a:p>
                  </a:txBody>
                  <a:tcPr marL="76033" marR="76033" marT="38016" marB="38016" anchor="ctr"/>
                </a:tc>
                <a:tc>
                  <a:txBody>
                    <a:bodyPr/>
                    <a:lstStyle/>
                    <a:p>
                      <a:r>
                        <a:rPr lang="en-US" sz="1500"/>
                        <a:t>Con China</a:t>
                      </a:r>
                    </a:p>
                  </a:txBody>
                  <a:tcPr marL="76033" marR="76033" marT="38016" marB="38016" anchor="ctr"/>
                </a:tc>
                <a:tc>
                  <a:txBody>
                    <a:bodyPr/>
                    <a:lstStyle/>
                    <a:p>
                      <a:r>
                        <a:rPr lang="en-US" sz="1500"/>
                        <a:t>Sin China</a:t>
                      </a:r>
                    </a:p>
                  </a:txBody>
                  <a:tcPr marL="76033" marR="76033" marT="38016" marB="38016" anchor="ctr"/>
                </a:tc>
                <a:tc>
                  <a:txBody>
                    <a:bodyPr/>
                    <a:lstStyle/>
                    <a:p>
                      <a:r>
                        <a:rPr lang="en-US" sz="1500"/>
                        <a:t>Variación</a:t>
                      </a:r>
                    </a:p>
                  </a:txBody>
                  <a:tcPr marL="76033" marR="76033" marT="38016" marB="38016" anchor="ctr"/>
                </a:tc>
                <a:extLst>
                  <a:ext uri="{0D108BD9-81ED-4DB2-BD59-A6C34878D82A}">
                    <a16:rowId xmlns:a16="http://schemas.microsoft.com/office/drawing/2014/main" val="3525075449"/>
                  </a:ext>
                </a:extLst>
              </a:tr>
              <a:tr h="532230">
                <a:tc>
                  <a:txBody>
                    <a:bodyPr/>
                    <a:lstStyle/>
                    <a:p>
                      <a:r>
                        <a:rPr lang="en-US" sz="1500" dirty="0" err="1"/>
                        <a:t>Coeficiente</a:t>
                      </a:r>
                      <a:r>
                        <a:rPr lang="en-US" sz="1500" dirty="0"/>
                        <a:t> de Gini (media)</a:t>
                      </a:r>
                    </a:p>
                  </a:txBody>
                  <a:tcPr marL="76033" marR="76033" marT="38016" marB="38016" anchor="ctr"/>
                </a:tc>
                <a:tc>
                  <a:txBody>
                    <a:bodyPr/>
                    <a:lstStyle/>
                    <a:p>
                      <a:r>
                        <a:rPr lang="en-US" sz="1500"/>
                        <a:t>42,4</a:t>
                      </a:r>
                    </a:p>
                  </a:txBody>
                  <a:tcPr marL="76033" marR="76033" marT="38016" marB="38016" anchor="ctr"/>
                </a:tc>
                <a:tc>
                  <a:txBody>
                    <a:bodyPr/>
                    <a:lstStyle/>
                    <a:p>
                      <a:r>
                        <a:rPr lang="en-US" sz="1500"/>
                        <a:t>42,4</a:t>
                      </a:r>
                    </a:p>
                  </a:txBody>
                  <a:tcPr marL="76033" marR="76033" marT="38016" marB="38016" anchor="ctr"/>
                </a:tc>
                <a:tc>
                  <a:txBody>
                    <a:bodyPr/>
                    <a:lstStyle/>
                    <a:p>
                      <a:r>
                        <a:rPr lang="en-US" sz="1500" dirty="0"/>
                        <a:t>0%</a:t>
                      </a:r>
                    </a:p>
                  </a:txBody>
                  <a:tcPr marL="76033" marR="76033" marT="38016" marB="38016" anchor="ctr"/>
                </a:tc>
                <a:extLst>
                  <a:ext uri="{0D108BD9-81ED-4DB2-BD59-A6C34878D82A}">
                    <a16:rowId xmlns:a16="http://schemas.microsoft.com/office/drawing/2014/main" val="2099701541"/>
                  </a:ext>
                </a:extLst>
              </a:tr>
              <a:tr h="304132">
                <a:tc>
                  <a:txBody>
                    <a:bodyPr/>
                    <a:lstStyle/>
                    <a:p>
                      <a:r>
                        <a:rPr lang="en-US" sz="1500"/>
                        <a:t>PBI industrial p/c (media)</a:t>
                      </a:r>
                    </a:p>
                  </a:txBody>
                  <a:tcPr marL="76033" marR="76033" marT="38016" marB="38016" anchor="ctr"/>
                </a:tc>
                <a:tc>
                  <a:txBody>
                    <a:bodyPr/>
                    <a:lstStyle/>
                    <a:p>
                      <a:r>
                        <a:rPr lang="en-US" sz="1500"/>
                        <a:t>3.545</a:t>
                      </a:r>
                    </a:p>
                  </a:txBody>
                  <a:tcPr marL="76033" marR="76033" marT="38016" marB="38016" anchor="ctr"/>
                </a:tc>
                <a:tc>
                  <a:txBody>
                    <a:bodyPr/>
                    <a:lstStyle/>
                    <a:p>
                      <a:r>
                        <a:rPr lang="en-US" sz="1500"/>
                        <a:t>3.556</a:t>
                      </a:r>
                    </a:p>
                  </a:txBody>
                  <a:tcPr marL="76033" marR="76033" marT="38016" marB="38016" anchor="ctr"/>
                </a:tc>
                <a:tc>
                  <a:txBody>
                    <a:bodyPr/>
                    <a:lstStyle/>
                    <a:p>
                      <a:r>
                        <a:rPr lang="en-US" sz="1500"/>
                        <a:t>+0,3%</a:t>
                      </a:r>
                    </a:p>
                  </a:txBody>
                  <a:tcPr marL="76033" marR="76033" marT="38016" marB="38016" anchor="ctr"/>
                </a:tc>
                <a:extLst>
                  <a:ext uri="{0D108BD9-81ED-4DB2-BD59-A6C34878D82A}">
                    <a16:rowId xmlns:a16="http://schemas.microsoft.com/office/drawing/2014/main" val="3491353129"/>
                  </a:ext>
                </a:extLst>
              </a:tr>
              <a:tr h="304132">
                <a:tc>
                  <a:txBody>
                    <a:bodyPr/>
                    <a:lstStyle/>
                    <a:p>
                      <a:r>
                        <a:rPr lang="en-US" sz="1500" dirty="0"/>
                        <a:t>PBI per </a:t>
                      </a:r>
                      <a:r>
                        <a:rPr lang="en-US" sz="1500" dirty="0" err="1"/>
                        <a:t>cápita</a:t>
                      </a:r>
                      <a:r>
                        <a:rPr lang="en-US" sz="1500" dirty="0"/>
                        <a:t> (media)</a:t>
                      </a:r>
                    </a:p>
                  </a:txBody>
                  <a:tcPr marL="76033" marR="76033" marT="38016" marB="38016" anchor="ctr"/>
                </a:tc>
                <a:tc>
                  <a:txBody>
                    <a:bodyPr/>
                    <a:lstStyle/>
                    <a:p>
                      <a:r>
                        <a:rPr lang="en-US" sz="1500" dirty="0"/>
                        <a:t>24.086</a:t>
                      </a:r>
                    </a:p>
                  </a:txBody>
                  <a:tcPr marL="76033" marR="76033" marT="38016" marB="38016" anchor="ctr"/>
                </a:tc>
                <a:tc>
                  <a:txBody>
                    <a:bodyPr/>
                    <a:lstStyle/>
                    <a:p>
                      <a:r>
                        <a:rPr lang="en-US" sz="1500"/>
                        <a:t>24.915</a:t>
                      </a:r>
                    </a:p>
                  </a:txBody>
                  <a:tcPr marL="76033" marR="76033" marT="38016" marB="38016" anchor="ctr"/>
                </a:tc>
                <a:tc>
                  <a:txBody>
                    <a:bodyPr/>
                    <a:lstStyle/>
                    <a:p>
                      <a:r>
                        <a:rPr lang="en-US" sz="1500" dirty="0"/>
                        <a:t>+3,4%</a:t>
                      </a:r>
                    </a:p>
                  </a:txBody>
                  <a:tcPr marL="76033" marR="76033" marT="38016" marB="38016" anchor="ctr"/>
                </a:tc>
                <a:extLst>
                  <a:ext uri="{0D108BD9-81ED-4DB2-BD59-A6C34878D82A}">
                    <a16:rowId xmlns:a16="http://schemas.microsoft.com/office/drawing/2014/main" val="2414467271"/>
                  </a:ext>
                </a:extLst>
              </a:tr>
            </a:tbl>
          </a:graphicData>
        </a:graphic>
      </p:graphicFrame>
      <p:sp>
        <p:nvSpPr>
          <p:cNvPr id="8" name="CuadroTexto 7"/>
          <p:cNvSpPr txBox="1"/>
          <p:nvPr/>
        </p:nvSpPr>
        <p:spPr>
          <a:xfrm>
            <a:off x="838200" y="1003575"/>
            <a:ext cx="2472280" cy="369332"/>
          </a:xfrm>
          <a:prstGeom prst="rect">
            <a:avLst/>
          </a:prstGeom>
          <a:noFill/>
        </p:spPr>
        <p:txBody>
          <a:bodyPr wrap="none" rtlCol="0">
            <a:spAutoFit/>
          </a:bodyPr>
          <a:lstStyle/>
          <a:p>
            <a:r>
              <a:rPr lang="es-ES" dirty="0" smtClean="0">
                <a:latin typeface="Calibri" panose="020F0502020204030204" pitchFamily="34" charset="0"/>
                <a:cs typeface="Calibri" panose="020F0502020204030204" pitchFamily="34" charset="0"/>
              </a:rPr>
              <a:t>Estadísticas descriptivas</a:t>
            </a:r>
            <a:endParaRPr lang="es-ES" dirty="0">
              <a:latin typeface="Calibri" panose="020F0502020204030204" pitchFamily="34" charset="0"/>
              <a:cs typeface="Calibri" panose="020F0502020204030204" pitchFamily="34" charset="0"/>
            </a:endParaRPr>
          </a:p>
        </p:txBody>
      </p:sp>
      <p:sp>
        <p:nvSpPr>
          <p:cNvPr id="9" name="CuadroTexto 8"/>
          <p:cNvSpPr txBox="1"/>
          <p:nvPr/>
        </p:nvSpPr>
        <p:spPr>
          <a:xfrm>
            <a:off x="838200" y="3095409"/>
            <a:ext cx="2108269" cy="369332"/>
          </a:xfrm>
          <a:prstGeom prst="rect">
            <a:avLst/>
          </a:prstGeom>
          <a:noFill/>
        </p:spPr>
        <p:txBody>
          <a:bodyPr wrap="none" rtlCol="0">
            <a:spAutoFit/>
          </a:bodyPr>
          <a:lstStyle/>
          <a:p>
            <a:r>
              <a:rPr lang="es-ES" dirty="0" smtClean="0">
                <a:latin typeface="Calibri" panose="020F0502020204030204" pitchFamily="34" charset="0"/>
                <a:cs typeface="Calibri" panose="020F0502020204030204" pitchFamily="34" charset="0"/>
              </a:rPr>
              <a:t>Regresión OLS (H2)</a:t>
            </a:r>
            <a:endParaRPr lang="es-ES" dirty="0">
              <a:latin typeface="Calibri" panose="020F0502020204030204" pitchFamily="34" charset="0"/>
              <a:cs typeface="Calibri" panose="020F0502020204030204" pitchFamily="34" charset="0"/>
            </a:endParaRPr>
          </a:p>
        </p:txBody>
      </p:sp>
      <p:sp>
        <p:nvSpPr>
          <p:cNvPr id="10" name="CuadroTexto 9"/>
          <p:cNvSpPr txBox="1"/>
          <p:nvPr/>
        </p:nvSpPr>
        <p:spPr>
          <a:xfrm>
            <a:off x="838200" y="5114233"/>
            <a:ext cx="10515600" cy="1200329"/>
          </a:xfrm>
          <a:prstGeom prst="rect">
            <a:avLst/>
          </a:prstGeom>
          <a:noFill/>
        </p:spPr>
        <p:txBody>
          <a:bodyPr wrap="square" rtlCol="0">
            <a:spAutoFit/>
          </a:bodyPr>
          <a:lstStyle/>
          <a:p>
            <a:r>
              <a:rPr lang="es-ES" dirty="0" smtClean="0">
                <a:latin typeface="Calibri" panose="020F0502020204030204" pitchFamily="34" charset="0"/>
                <a:cs typeface="Calibri" panose="020F0502020204030204" pitchFamily="34" charset="0"/>
              </a:rPr>
              <a:t>Excluir a China fortalece la relación estadística (el R² casi se duplica, el resultado pasa a ser significativo al 5%). Pese a esto, se mantiene en el análisis principal el criterio de tratamiento de </a:t>
            </a:r>
            <a:r>
              <a:rPr lang="es-ES" dirty="0" err="1" smtClean="0">
                <a:latin typeface="Calibri" panose="020F0502020204030204" pitchFamily="34" charset="0"/>
                <a:cs typeface="Calibri" panose="020F0502020204030204" pitchFamily="34" charset="0"/>
              </a:rPr>
              <a:t>outliers</a:t>
            </a:r>
            <a:r>
              <a:rPr lang="es-ES" dirty="0" smtClean="0">
                <a:latin typeface="Calibri" panose="020F0502020204030204" pitchFamily="34" charset="0"/>
                <a:cs typeface="Calibri" panose="020F0502020204030204" pitchFamily="34" charset="0"/>
              </a:rPr>
              <a:t> fue conceptual, no orientado a mejorar el resultado. China es el caso de industrialización acelerada que el trabajo estudia, no un error de medición.</a:t>
            </a:r>
            <a:endParaRPr lang="es-E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6670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74638"/>
            <a:ext cx="10515600" cy="1050925"/>
          </a:xfrm>
        </p:spPr>
        <p:txBody>
          <a:bodyPr>
            <a:normAutofit fontScale="90000"/>
          </a:bodyPr>
          <a:lstStyle/>
          <a:p>
            <a:pPr algn="ctr"/>
            <a:r>
              <a:rPr lang="es-ES" sz="3000" b="1" dirty="0" smtClean="0">
                <a:solidFill>
                  <a:srgbClr val="1A1A1A"/>
                </a:solidFill>
                <a:latin typeface="Cambria" panose="02040503050406030204" pitchFamily="18" charset="0"/>
                <a:cs typeface="Cambria" panose="02040503050406030204" pitchFamily="18" charset="0"/>
              </a:rPr>
              <a:t>Trayectorias indexadas del PBI per </a:t>
            </a:r>
            <a:r>
              <a:rPr lang="es-ES" sz="3000" b="1" dirty="0" err="1" smtClean="0">
                <a:solidFill>
                  <a:srgbClr val="1A1A1A"/>
                </a:solidFill>
                <a:latin typeface="Cambria" panose="02040503050406030204" pitchFamily="18" charset="0"/>
                <a:cs typeface="Cambria" panose="02040503050406030204" pitchFamily="18" charset="0"/>
              </a:rPr>
              <a:t>capita</a:t>
            </a:r>
            <a:r>
              <a:rPr lang="es-ES" sz="3000" b="1" dirty="0" smtClean="0">
                <a:solidFill>
                  <a:srgbClr val="1A1A1A"/>
                </a:solidFill>
                <a:latin typeface="Cambria" panose="02040503050406030204" pitchFamily="18" charset="0"/>
                <a:cs typeface="Cambria" panose="02040503050406030204" pitchFamily="18" charset="0"/>
              </a:rPr>
              <a:t> (hipótesis principal)</a:t>
            </a:r>
            <a:r>
              <a:rPr lang="es-ES" sz="3000" b="1" dirty="0">
                <a:solidFill>
                  <a:srgbClr val="1A1A1A"/>
                </a:solidFill>
                <a:latin typeface="Cambria" panose="02040503050406030204" pitchFamily="18" charset="0"/>
                <a:cs typeface="Cambria" panose="02040503050406030204" pitchFamily="18" charset="0"/>
              </a:rPr>
              <a:t/>
            </a:r>
            <a:br>
              <a:rPr lang="es-ES" sz="3000" b="1" dirty="0">
                <a:solidFill>
                  <a:srgbClr val="1A1A1A"/>
                </a:solidFill>
                <a:latin typeface="Cambria" panose="02040503050406030204" pitchFamily="18" charset="0"/>
                <a:cs typeface="Cambria" panose="02040503050406030204" pitchFamily="18" charset="0"/>
              </a:rPr>
            </a:br>
            <a:r>
              <a:rPr lang="es-ES" sz="3000" b="1" dirty="0" smtClean="0">
                <a:solidFill>
                  <a:srgbClr val="1A1A1A"/>
                </a:solidFill>
                <a:latin typeface="Cambria" panose="02040503050406030204" pitchFamily="18" charset="0"/>
                <a:cs typeface="Cambria" panose="02040503050406030204" pitchFamily="18" charset="0"/>
              </a:rPr>
              <a:t>primer método</a:t>
            </a:r>
            <a:endParaRPr lang="es-ES" sz="3000" b="1" dirty="0">
              <a:solidFill>
                <a:srgbClr val="1A1A1A"/>
              </a:solidFill>
              <a:latin typeface="Cambria" panose="02040503050406030204" pitchFamily="18" charset="0"/>
              <a:cs typeface="Cambria" panose="02040503050406030204" pitchFamily="18" charset="0"/>
            </a:endParaRPr>
          </a:p>
        </p:txBody>
      </p:sp>
      <p:pic>
        <p:nvPicPr>
          <p:cNvPr id="6148" name="Picture 4" descr="grafico_comunicacional.png"/>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tretch>
            <a:fillRect/>
          </a:stretch>
        </p:blipFill>
        <p:spPr bwMode="auto">
          <a:xfrm>
            <a:off x="838199" y="1325563"/>
            <a:ext cx="5181600" cy="4666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Marcador de contenido 4"/>
          <p:cNvGraphicFramePr>
            <a:graphicFrameLocks noGrp="1"/>
          </p:cNvGraphicFramePr>
          <p:nvPr>
            <p:ph sz="half" idx="2"/>
            <p:extLst>
              <p:ext uri="{D42A27DB-BD31-4B8C-83A1-F6EECF244321}">
                <p14:modId xmlns:p14="http://schemas.microsoft.com/office/powerpoint/2010/main" val="3883745204"/>
              </p:ext>
            </p:extLst>
          </p:nvPr>
        </p:nvGraphicFramePr>
        <p:xfrm>
          <a:off x="6101862" y="2105479"/>
          <a:ext cx="5139102" cy="1871210"/>
        </p:xfrm>
        <a:graphic>
          <a:graphicData uri="http://schemas.openxmlformats.org/drawingml/2006/table">
            <a:tbl>
              <a:tblPr firstRow="1" bandRow="1">
                <a:tableStyleId>{073A0DAA-6AF3-43AB-8588-CEC1D06C72B9}</a:tableStyleId>
              </a:tblPr>
              <a:tblGrid>
                <a:gridCol w="1713034">
                  <a:extLst>
                    <a:ext uri="{9D8B030D-6E8A-4147-A177-3AD203B41FA5}">
                      <a16:colId xmlns:a16="http://schemas.microsoft.com/office/drawing/2014/main" val="581466110"/>
                    </a:ext>
                  </a:extLst>
                </a:gridCol>
                <a:gridCol w="1713034">
                  <a:extLst>
                    <a:ext uri="{9D8B030D-6E8A-4147-A177-3AD203B41FA5}">
                      <a16:colId xmlns:a16="http://schemas.microsoft.com/office/drawing/2014/main" val="2466964712"/>
                    </a:ext>
                  </a:extLst>
                </a:gridCol>
                <a:gridCol w="1713034">
                  <a:extLst>
                    <a:ext uri="{9D8B030D-6E8A-4147-A177-3AD203B41FA5}">
                      <a16:colId xmlns:a16="http://schemas.microsoft.com/office/drawing/2014/main" val="210790725"/>
                    </a:ext>
                  </a:extLst>
                </a:gridCol>
              </a:tblGrid>
              <a:tr h="405329">
                <a:tc>
                  <a:txBody>
                    <a:bodyPr/>
                    <a:lstStyle/>
                    <a:p>
                      <a:r>
                        <a:rPr lang="en-US" sz="1800" dirty="0" err="1" smtClean="0">
                          <a:latin typeface="Calibri" panose="020F0502020204030204" pitchFamily="34" charset="0"/>
                          <a:cs typeface="Calibri" panose="020F0502020204030204" pitchFamily="34" charset="0"/>
                        </a:rPr>
                        <a:t>Año</a:t>
                      </a:r>
                      <a:endParaRPr lang="en-US" sz="1800" dirty="0">
                        <a:latin typeface="Calibri" panose="020F0502020204030204" pitchFamily="34" charset="0"/>
                        <a:cs typeface="Calibri" panose="020F0502020204030204" pitchFamily="34" charset="0"/>
                      </a:endParaRPr>
                    </a:p>
                  </a:txBody>
                  <a:tcPr marL="45057" marR="45057" marT="22529" marB="22529" anchor="ctr"/>
                </a:tc>
                <a:tc>
                  <a:txBody>
                    <a:bodyPr/>
                    <a:lstStyle/>
                    <a:p>
                      <a:r>
                        <a:rPr lang="en-US" sz="1800" dirty="0" err="1">
                          <a:latin typeface="Calibri" panose="020F0502020204030204" pitchFamily="34" charset="0"/>
                          <a:cs typeface="Calibri" panose="020F0502020204030204" pitchFamily="34" charset="0"/>
                        </a:rPr>
                        <a:t>Grupo</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más</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industrializado</a:t>
                      </a:r>
                      <a:endParaRPr lang="en-US" sz="1800" dirty="0">
                        <a:latin typeface="Calibri" panose="020F0502020204030204" pitchFamily="34" charset="0"/>
                        <a:cs typeface="Calibri" panose="020F0502020204030204" pitchFamily="34" charset="0"/>
                      </a:endParaRPr>
                    </a:p>
                  </a:txBody>
                  <a:tcPr marL="45057" marR="45057" marT="22529" marB="22529" anchor="ctr"/>
                </a:tc>
                <a:tc>
                  <a:txBody>
                    <a:bodyPr/>
                    <a:lstStyle/>
                    <a:p>
                      <a:r>
                        <a:rPr lang="en-US" sz="1800" dirty="0" err="1">
                          <a:latin typeface="Calibri" panose="020F0502020204030204" pitchFamily="34" charset="0"/>
                          <a:cs typeface="Calibri" panose="020F0502020204030204" pitchFamily="34" charset="0"/>
                        </a:rPr>
                        <a:t>Grupo</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menos</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industrializado</a:t>
                      </a:r>
                      <a:endParaRPr lang="en-US" sz="1800" dirty="0">
                        <a:latin typeface="Calibri" panose="020F0502020204030204" pitchFamily="34" charset="0"/>
                        <a:cs typeface="Calibri" panose="020F0502020204030204" pitchFamily="34" charset="0"/>
                      </a:endParaRPr>
                    </a:p>
                  </a:txBody>
                  <a:tcPr marL="45057" marR="45057" marT="22529" marB="22529" anchor="ctr"/>
                </a:tc>
                <a:extLst>
                  <a:ext uri="{0D108BD9-81ED-4DB2-BD59-A6C34878D82A}">
                    <a16:rowId xmlns:a16="http://schemas.microsoft.com/office/drawing/2014/main" val="2977629782"/>
                  </a:ext>
                </a:extLst>
              </a:tr>
              <a:tr h="218046">
                <a:tc>
                  <a:txBody>
                    <a:bodyPr/>
                    <a:lstStyle/>
                    <a:p>
                      <a:r>
                        <a:rPr lang="en-US" sz="1800" dirty="0">
                          <a:latin typeface="Calibri" panose="020F0502020204030204" pitchFamily="34" charset="0"/>
                          <a:cs typeface="Calibri" panose="020F0502020204030204" pitchFamily="34" charset="0"/>
                        </a:rPr>
                        <a:t>1970</a:t>
                      </a:r>
                    </a:p>
                  </a:txBody>
                  <a:tcPr marL="45057" marR="45057" marT="22529" marB="22529" anchor="ctr"/>
                </a:tc>
                <a:tc>
                  <a:txBody>
                    <a:bodyPr/>
                    <a:lstStyle/>
                    <a:p>
                      <a:r>
                        <a:rPr lang="en-US" sz="1800" dirty="0">
                          <a:latin typeface="Calibri" panose="020F0502020204030204" pitchFamily="34" charset="0"/>
                          <a:cs typeface="Calibri" panose="020F0502020204030204" pitchFamily="34" charset="0"/>
                        </a:rPr>
                        <a:t>100,0</a:t>
                      </a:r>
                    </a:p>
                  </a:txBody>
                  <a:tcPr marL="45057" marR="45057" marT="22529" marB="22529" anchor="ctr"/>
                </a:tc>
                <a:tc>
                  <a:txBody>
                    <a:bodyPr/>
                    <a:lstStyle/>
                    <a:p>
                      <a:r>
                        <a:rPr lang="en-US" sz="1800">
                          <a:latin typeface="Calibri" panose="020F0502020204030204" pitchFamily="34" charset="0"/>
                          <a:cs typeface="Calibri" panose="020F0502020204030204" pitchFamily="34" charset="0"/>
                        </a:rPr>
                        <a:t>100,0</a:t>
                      </a:r>
                    </a:p>
                  </a:txBody>
                  <a:tcPr marL="45057" marR="45057" marT="22529" marB="22529" anchor="ctr"/>
                </a:tc>
                <a:extLst>
                  <a:ext uri="{0D108BD9-81ED-4DB2-BD59-A6C34878D82A}">
                    <a16:rowId xmlns:a16="http://schemas.microsoft.com/office/drawing/2014/main" val="2820220926"/>
                  </a:ext>
                </a:extLst>
              </a:tr>
              <a:tr h="218046">
                <a:tc>
                  <a:txBody>
                    <a:bodyPr/>
                    <a:lstStyle/>
                    <a:p>
                      <a:r>
                        <a:rPr lang="en-US" sz="1800" dirty="0">
                          <a:latin typeface="Calibri" panose="020F0502020204030204" pitchFamily="34" charset="0"/>
                          <a:cs typeface="Calibri" panose="020F0502020204030204" pitchFamily="34" charset="0"/>
                        </a:rPr>
                        <a:t>1990</a:t>
                      </a:r>
                    </a:p>
                  </a:txBody>
                  <a:tcPr marL="45057" marR="45057" marT="22529" marB="22529" anchor="ctr"/>
                </a:tc>
                <a:tc>
                  <a:txBody>
                    <a:bodyPr/>
                    <a:lstStyle/>
                    <a:p>
                      <a:r>
                        <a:rPr lang="en-US" sz="1800">
                          <a:latin typeface="Calibri" panose="020F0502020204030204" pitchFamily="34" charset="0"/>
                          <a:cs typeface="Calibri" panose="020F0502020204030204" pitchFamily="34" charset="0"/>
                        </a:rPr>
                        <a:t>160,1</a:t>
                      </a:r>
                    </a:p>
                  </a:txBody>
                  <a:tcPr marL="45057" marR="45057" marT="22529" marB="22529" anchor="ctr"/>
                </a:tc>
                <a:tc>
                  <a:txBody>
                    <a:bodyPr/>
                    <a:lstStyle/>
                    <a:p>
                      <a:r>
                        <a:rPr lang="en-US" sz="1800">
                          <a:latin typeface="Calibri" panose="020F0502020204030204" pitchFamily="34" charset="0"/>
                          <a:cs typeface="Calibri" panose="020F0502020204030204" pitchFamily="34" charset="0"/>
                        </a:rPr>
                        <a:t>147,3</a:t>
                      </a:r>
                    </a:p>
                  </a:txBody>
                  <a:tcPr marL="45057" marR="45057" marT="22529" marB="22529" anchor="ctr"/>
                </a:tc>
                <a:extLst>
                  <a:ext uri="{0D108BD9-81ED-4DB2-BD59-A6C34878D82A}">
                    <a16:rowId xmlns:a16="http://schemas.microsoft.com/office/drawing/2014/main" val="1038670161"/>
                  </a:ext>
                </a:extLst>
              </a:tr>
              <a:tr h="218046">
                <a:tc>
                  <a:txBody>
                    <a:bodyPr/>
                    <a:lstStyle/>
                    <a:p>
                      <a:r>
                        <a:rPr lang="en-US" sz="1800" dirty="0">
                          <a:latin typeface="Calibri" panose="020F0502020204030204" pitchFamily="34" charset="0"/>
                          <a:cs typeface="Calibri" panose="020F0502020204030204" pitchFamily="34" charset="0"/>
                        </a:rPr>
                        <a:t>2010</a:t>
                      </a:r>
                    </a:p>
                  </a:txBody>
                  <a:tcPr marL="45057" marR="45057" marT="22529" marB="22529" anchor="ctr"/>
                </a:tc>
                <a:tc>
                  <a:txBody>
                    <a:bodyPr/>
                    <a:lstStyle/>
                    <a:p>
                      <a:r>
                        <a:rPr lang="en-US" sz="1800" dirty="0">
                          <a:latin typeface="Calibri" panose="020F0502020204030204" pitchFamily="34" charset="0"/>
                          <a:cs typeface="Calibri" panose="020F0502020204030204" pitchFamily="34" charset="0"/>
                        </a:rPr>
                        <a:t>234,2</a:t>
                      </a:r>
                    </a:p>
                  </a:txBody>
                  <a:tcPr marL="45057" marR="45057" marT="22529" marB="22529" anchor="ctr"/>
                </a:tc>
                <a:tc>
                  <a:txBody>
                    <a:bodyPr/>
                    <a:lstStyle/>
                    <a:p>
                      <a:r>
                        <a:rPr lang="en-US" sz="1800">
                          <a:latin typeface="Calibri" panose="020F0502020204030204" pitchFamily="34" charset="0"/>
                          <a:cs typeface="Calibri" panose="020F0502020204030204" pitchFamily="34" charset="0"/>
                        </a:rPr>
                        <a:t>231,8</a:t>
                      </a:r>
                    </a:p>
                  </a:txBody>
                  <a:tcPr marL="45057" marR="45057" marT="22529" marB="22529" anchor="ctr"/>
                </a:tc>
                <a:extLst>
                  <a:ext uri="{0D108BD9-81ED-4DB2-BD59-A6C34878D82A}">
                    <a16:rowId xmlns:a16="http://schemas.microsoft.com/office/drawing/2014/main" val="3003822837"/>
                  </a:ext>
                </a:extLst>
              </a:tr>
              <a:tr h="218046">
                <a:tc>
                  <a:txBody>
                    <a:bodyPr/>
                    <a:lstStyle/>
                    <a:p>
                      <a:r>
                        <a:rPr lang="en-US" sz="1800" dirty="0">
                          <a:latin typeface="Calibri" panose="020F0502020204030204" pitchFamily="34" charset="0"/>
                          <a:cs typeface="Calibri" panose="020F0502020204030204" pitchFamily="34" charset="0"/>
                        </a:rPr>
                        <a:t>2023</a:t>
                      </a:r>
                    </a:p>
                  </a:txBody>
                  <a:tcPr marL="45057" marR="45057" marT="22529" marB="22529" anchor="ctr"/>
                </a:tc>
                <a:tc>
                  <a:txBody>
                    <a:bodyPr/>
                    <a:lstStyle/>
                    <a:p>
                      <a:r>
                        <a:rPr lang="en-US" sz="1800" dirty="0">
                          <a:latin typeface="Calibri" panose="020F0502020204030204" pitchFamily="34" charset="0"/>
                          <a:cs typeface="Calibri" panose="020F0502020204030204" pitchFamily="34" charset="0"/>
                        </a:rPr>
                        <a:t>279,1</a:t>
                      </a:r>
                    </a:p>
                  </a:txBody>
                  <a:tcPr marL="45057" marR="45057" marT="22529" marB="22529" anchor="ctr"/>
                </a:tc>
                <a:tc>
                  <a:txBody>
                    <a:bodyPr/>
                    <a:lstStyle/>
                    <a:p>
                      <a:r>
                        <a:rPr lang="en-US" sz="1800" dirty="0">
                          <a:latin typeface="Calibri" panose="020F0502020204030204" pitchFamily="34" charset="0"/>
                          <a:cs typeface="Calibri" panose="020F0502020204030204" pitchFamily="34" charset="0"/>
                        </a:rPr>
                        <a:t>304,2</a:t>
                      </a:r>
                    </a:p>
                  </a:txBody>
                  <a:tcPr marL="45057" marR="45057" marT="22529" marB="22529" anchor="ctr"/>
                </a:tc>
                <a:extLst>
                  <a:ext uri="{0D108BD9-81ED-4DB2-BD59-A6C34878D82A}">
                    <a16:rowId xmlns:a16="http://schemas.microsoft.com/office/drawing/2014/main" val="772787995"/>
                  </a:ext>
                </a:extLst>
              </a:tr>
            </a:tbl>
          </a:graphicData>
        </a:graphic>
      </p:graphicFrame>
      <p:sp>
        <p:nvSpPr>
          <p:cNvPr id="6" name="CuadroTexto 5"/>
          <p:cNvSpPr txBox="1"/>
          <p:nvPr/>
        </p:nvSpPr>
        <p:spPr>
          <a:xfrm>
            <a:off x="6019799" y="3976689"/>
            <a:ext cx="5221165" cy="2492990"/>
          </a:xfrm>
          <a:prstGeom prst="rect">
            <a:avLst/>
          </a:prstGeom>
          <a:noFill/>
        </p:spPr>
        <p:txBody>
          <a:bodyPr wrap="square" rtlCol="0">
            <a:spAutoFit/>
          </a:bodyPr>
          <a:lstStyle/>
          <a:p>
            <a:r>
              <a:rPr lang="es-ES" sz="1300" dirty="0" smtClean="0">
                <a:cs typeface="Times New Roman" panose="02020603050405020304" pitchFamily="18" charset="0"/>
              </a:rPr>
              <a:t>Este </a:t>
            </a:r>
            <a:r>
              <a:rPr lang="es-ES" sz="1300" dirty="0">
                <a:cs typeface="Times New Roman" panose="02020603050405020304" pitchFamily="18" charset="0"/>
              </a:rPr>
              <a:t>gráfico clasifica a los países por variación del índice industrial 1970-2023 (criterio de una instancia </a:t>
            </a:r>
            <a:r>
              <a:rPr lang="es-ES" sz="1300" dirty="0" smtClean="0">
                <a:cs typeface="Times New Roman" panose="02020603050405020304" pitchFamily="18" charset="0"/>
              </a:rPr>
              <a:t>previa) y necesario a fines analíticos. </a:t>
            </a:r>
            <a:r>
              <a:rPr lang="es-ES" sz="1300" dirty="0">
                <a:cs typeface="Times New Roman" panose="02020603050405020304" pitchFamily="18" charset="0"/>
              </a:rPr>
              <a:t>La tabla y el resto del análisis usan el criterio corregido por nivel 2023. Por eso el gráfico y la tabla muestran patrones opuestos al cierre del período </a:t>
            </a:r>
            <a:r>
              <a:rPr lang="es-ES" sz="1300" dirty="0" smtClean="0">
                <a:cs typeface="Times New Roman" panose="02020603050405020304" pitchFamily="18" charset="0"/>
              </a:rPr>
              <a:t>la </a:t>
            </a:r>
            <a:r>
              <a:rPr lang="es-ES" sz="1300" dirty="0">
                <a:cs typeface="Times New Roman" panose="02020603050405020304" pitchFamily="18" charset="0"/>
              </a:rPr>
              <a:t>diferencia confirma que el cambio de criterio, indicado por el docente, fue metodológicamente relevante. El resultado de la tabla, aunque </a:t>
            </a:r>
            <a:r>
              <a:rPr lang="es-ES" sz="1300" dirty="0" smtClean="0">
                <a:cs typeface="Times New Roman" panose="02020603050405020304" pitchFamily="18" charset="0"/>
              </a:rPr>
              <a:t>contra intuitivo, </a:t>
            </a:r>
            <a:r>
              <a:rPr lang="es-ES" sz="1300" dirty="0">
                <a:cs typeface="Times New Roman" panose="02020603050405020304" pitchFamily="18" charset="0"/>
              </a:rPr>
              <a:t>se explica por la alta heterogeneidad del grupo más industrializado, que combina el crecimiento extraordinario de China (43x) y Corea del Sur (18x) con el crecimiento moderado de economías desarrolladas y el estancamiento relativo de Argentina (1,4x); el grupo menos industrializado, en cambio, creció de forma más homogénea, lo que sostiene su promedio por encima del otro grupo al cierre del período.</a:t>
            </a:r>
          </a:p>
        </p:txBody>
      </p:sp>
      <p:sp>
        <p:nvSpPr>
          <p:cNvPr id="7" name="CuadroTexto 6"/>
          <p:cNvSpPr txBox="1"/>
          <p:nvPr/>
        </p:nvSpPr>
        <p:spPr>
          <a:xfrm>
            <a:off x="6019799" y="1182149"/>
            <a:ext cx="5221165" cy="830997"/>
          </a:xfrm>
          <a:prstGeom prst="rect">
            <a:avLst/>
          </a:prstGeom>
          <a:noFill/>
        </p:spPr>
        <p:txBody>
          <a:bodyPr wrap="square" rtlCol="0">
            <a:spAutoFit/>
          </a:bodyPr>
          <a:lstStyle/>
          <a:p>
            <a:r>
              <a:rPr lang="es-ES" sz="1600" b="1" dirty="0" smtClean="0">
                <a:latin typeface="Calibri" panose="020F0502020204030204" pitchFamily="34" charset="0"/>
                <a:cs typeface="Calibri" panose="020F0502020204030204" pitchFamily="34" charset="0"/>
              </a:rPr>
              <a:t>Construcción </a:t>
            </a:r>
            <a:r>
              <a:rPr lang="es-ES" sz="1600" b="1" dirty="0">
                <a:latin typeface="Calibri" panose="020F0502020204030204" pitchFamily="34" charset="0"/>
                <a:cs typeface="Calibri" panose="020F0502020204030204" pitchFamily="34" charset="0"/>
              </a:rPr>
              <a:t>del </a:t>
            </a:r>
            <a:r>
              <a:rPr lang="es-ES" sz="1600" b="1" dirty="0" smtClean="0">
                <a:latin typeface="Calibri" panose="020F0502020204030204" pitchFamily="34" charset="0"/>
                <a:cs typeface="Calibri" panose="020F0502020204030204" pitchFamily="34" charset="0"/>
              </a:rPr>
              <a:t>indicador:</a:t>
            </a:r>
            <a:r>
              <a:rPr lang="es-ES" sz="1600" dirty="0" smtClean="0">
                <a:latin typeface="Calibri" panose="020F0502020204030204" pitchFamily="34" charset="0"/>
                <a:cs typeface="Calibri" panose="020F0502020204030204" pitchFamily="34" charset="0"/>
              </a:rPr>
              <a:t> </a:t>
            </a:r>
            <a:r>
              <a:rPr lang="es-ES" sz="1600" dirty="0">
                <a:latin typeface="Calibri" panose="020F0502020204030204" pitchFamily="34" charset="0"/>
                <a:cs typeface="Calibri" panose="020F0502020204030204" pitchFamily="34" charset="0"/>
              </a:rPr>
              <a:t>PBI per cápita indexado a base 100 en el año 1970, </a:t>
            </a:r>
            <a:r>
              <a:rPr lang="es-ES" sz="1600" dirty="0" smtClean="0">
                <a:latin typeface="Calibri" panose="020F0502020204030204" pitchFamily="34" charset="0"/>
                <a:cs typeface="Calibri" panose="020F0502020204030204" pitchFamily="34" charset="0"/>
              </a:rPr>
              <a:t>calculado </a:t>
            </a:r>
            <a:r>
              <a:rPr lang="es-ES" sz="1600" dirty="0">
                <a:latin typeface="Calibri" panose="020F0502020204030204" pitchFamily="34" charset="0"/>
                <a:cs typeface="Calibri" panose="020F0502020204030204" pitchFamily="34" charset="0"/>
              </a:rPr>
              <a:t>como promedio simple por grupo de industrialización</a:t>
            </a:r>
            <a:endParaRPr lang="es-ES" sz="1600" dirty="0"/>
          </a:p>
        </p:txBody>
      </p:sp>
    </p:spTree>
    <p:extLst>
      <p:ext uri="{BB962C8B-B14F-4D97-AF65-F5344CB8AC3E}">
        <p14:creationId xmlns:p14="http://schemas.microsoft.com/office/powerpoint/2010/main" val="2163786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74638"/>
            <a:ext cx="10515600" cy="1050925"/>
          </a:xfrm>
        </p:spPr>
        <p:txBody>
          <a:bodyPr>
            <a:normAutofit fontScale="90000"/>
          </a:bodyPr>
          <a:lstStyle/>
          <a:p>
            <a:pPr algn="ctr"/>
            <a:r>
              <a:rPr lang="es-ES" sz="3000" b="1" dirty="0">
                <a:solidFill>
                  <a:srgbClr val="1A1A1A"/>
                </a:solidFill>
                <a:latin typeface="Cambria" panose="02040503050406030204" pitchFamily="18" charset="0"/>
                <a:cs typeface="Cambria" panose="02040503050406030204" pitchFamily="18" charset="0"/>
              </a:rPr>
              <a:t>D</a:t>
            </a:r>
            <a:r>
              <a:rPr lang="es-ES" sz="3000" b="1" dirty="0" smtClean="0">
                <a:solidFill>
                  <a:srgbClr val="1A1A1A"/>
                </a:solidFill>
                <a:latin typeface="Cambria" panose="02040503050406030204" pitchFamily="18" charset="0"/>
                <a:cs typeface="Cambria" panose="02040503050406030204" pitchFamily="18" charset="0"/>
              </a:rPr>
              <a:t>escomposición de tendencia y volatilidad (hipótesis principal)</a:t>
            </a:r>
            <a:br>
              <a:rPr lang="es-ES" sz="3000" b="1" dirty="0" smtClean="0">
                <a:solidFill>
                  <a:srgbClr val="1A1A1A"/>
                </a:solidFill>
                <a:latin typeface="Cambria" panose="02040503050406030204" pitchFamily="18" charset="0"/>
                <a:cs typeface="Cambria" panose="02040503050406030204" pitchFamily="18" charset="0"/>
              </a:rPr>
            </a:br>
            <a:r>
              <a:rPr lang="es-ES" sz="3000" b="1" dirty="0" smtClean="0">
                <a:solidFill>
                  <a:srgbClr val="1A1A1A"/>
                </a:solidFill>
                <a:latin typeface="Cambria" panose="02040503050406030204" pitchFamily="18" charset="0"/>
                <a:cs typeface="Cambria" panose="02040503050406030204" pitchFamily="18" charset="0"/>
              </a:rPr>
              <a:t>segundo método </a:t>
            </a:r>
            <a:endParaRPr lang="es-ES" sz="3000" b="1" dirty="0">
              <a:solidFill>
                <a:srgbClr val="1A1A1A"/>
              </a:solidFill>
              <a:latin typeface="Cambria" panose="02040503050406030204" pitchFamily="18" charset="0"/>
              <a:cs typeface="Cambria" panose="02040503050406030204" pitchFamily="18" charset="0"/>
            </a:endParaRPr>
          </a:p>
        </p:txBody>
      </p:sp>
      <p:sp>
        <p:nvSpPr>
          <p:cNvPr id="3" name="Marcador de contenido 2"/>
          <p:cNvSpPr>
            <a:spLocks noGrp="1"/>
          </p:cNvSpPr>
          <p:nvPr>
            <p:ph idx="1"/>
          </p:nvPr>
        </p:nvSpPr>
        <p:spPr>
          <a:xfrm>
            <a:off x="838200" y="1325563"/>
            <a:ext cx="10515600" cy="423465"/>
          </a:xfrm>
        </p:spPr>
        <p:txBody>
          <a:bodyPr>
            <a:normAutofit/>
          </a:bodyPr>
          <a:lstStyle/>
          <a:p>
            <a:pPr marL="0" indent="0">
              <a:buNone/>
            </a:pPr>
            <a:r>
              <a:rPr lang="es-ES" sz="1800" dirty="0" smtClean="0">
                <a:latin typeface="Calibri" panose="020F0502020204030204" pitchFamily="34" charset="0"/>
                <a:cs typeface="Calibri" panose="020F0502020204030204" pitchFamily="34" charset="0"/>
              </a:rPr>
              <a:t>Se utilizo la descomposición de las series anuales de PBI per cápita en una componente de tendencia.</a:t>
            </a:r>
            <a:endParaRPr lang="es-ES" sz="1800" dirty="0">
              <a:latin typeface="Calibri" panose="020F0502020204030204" pitchFamily="34" charset="0"/>
              <a:cs typeface="Calibri" panose="020F0502020204030204" pitchFamily="34" charset="0"/>
            </a:endParaRPr>
          </a:p>
        </p:txBody>
      </p:sp>
      <p:graphicFrame>
        <p:nvGraphicFramePr>
          <p:cNvPr id="4" name="Tabla 3"/>
          <p:cNvGraphicFramePr>
            <a:graphicFrameLocks noGrp="1"/>
          </p:cNvGraphicFramePr>
          <p:nvPr>
            <p:extLst>
              <p:ext uri="{D42A27DB-BD31-4B8C-83A1-F6EECF244321}">
                <p14:modId xmlns:p14="http://schemas.microsoft.com/office/powerpoint/2010/main" val="4259017492"/>
              </p:ext>
            </p:extLst>
          </p:nvPr>
        </p:nvGraphicFramePr>
        <p:xfrm>
          <a:off x="838200" y="1749028"/>
          <a:ext cx="10515600" cy="1828800"/>
        </p:xfrm>
        <a:graphic>
          <a:graphicData uri="http://schemas.openxmlformats.org/drawingml/2006/table">
            <a:tbl>
              <a:tblPr firstRow="1" bandRow="1">
                <a:tableStyleId>{073A0DAA-6AF3-43AB-8588-CEC1D06C72B9}</a:tableStyleId>
              </a:tblPr>
              <a:tblGrid>
                <a:gridCol w="3505200">
                  <a:extLst>
                    <a:ext uri="{9D8B030D-6E8A-4147-A177-3AD203B41FA5}">
                      <a16:colId xmlns:a16="http://schemas.microsoft.com/office/drawing/2014/main" val="979013242"/>
                    </a:ext>
                  </a:extLst>
                </a:gridCol>
                <a:gridCol w="3505200">
                  <a:extLst>
                    <a:ext uri="{9D8B030D-6E8A-4147-A177-3AD203B41FA5}">
                      <a16:colId xmlns:a16="http://schemas.microsoft.com/office/drawing/2014/main" val="304803510"/>
                    </a:ext>
                  </a:extLst>
                </a:gridCol>
                <a:gridCol w="3505200">
                  <a:extLst>
                    <a:ext uri="{9D8B030D-6E8A-4147-A177-3AD203B41FA5}">
                      <a16:colId xmlns:a16="http://schemas.microsoft.com/office/drawing/2014/main" val="358070959"/>
                    </a:ext>
                  </a:extLst>
                </a:gridCol>
              </a:tblGrid>
              <a:tr h="0">
                <a:tc>
                  <a:txBody>
                    <a:bodyPr/>
                    <a:lstStyle/>
                    <a:p>
                      <a:r>
                        <a:rPr lang="en-US" dirty="0"/>
                        <a:t>País</a:t>
                      </a:r>
                    </a:p>
                  </a:txBody>
                  <a:tcPr anchor="ctr"/>
                </a:tc>
                <a:tc>
                  <a:txBody>
                    <a:bodyPr/>
                    <a:lstStyle/>
                    <a:p>
                      <a:r>
                        <a:rPr lang="en-US"/>
                        <a:t>Grupo de clasificación 2023</a:t>
                      </a:r>
                    </a:p>
                  </a:txBody>
                  <a:tcPr anchor="ctr"/>
                </a:tc>
                <a:tc>
                  <a:txBody>
                    <a:bodyPr/>
                    <a:lstStyle/>
                    <a:p>
                      <a:r>
                        <a:rPr lang="en-US"/>
                        <a:t>Residuo medio (volatilidad)</a:t>
                      </a:r>
                    </a:p>
                  </a:txBody>
                  <a:tcPr anchor="ctr"/>
                </a:tc>
                <a:extLst>
                  <a:ext uri="{0D108BD9-81ED-4DB2-BD59-A6C34878D82A}">
                    <a16:rowId xmlns:a16="http://schemas.microsoft.com/office/drawing/2014/main" val="3872089342"/>
                  </a:ext>
                </a:extLst>
              </a:tr>
              <a:tr h="0">
                <a:tc>
                  <a:txBody>
                    <a:bodyPr/>
                    <a:lstStyle/>
                    <a:p>
                      <a:r>
                        <a:rPr lang="en-US"/>
                        <a:t>China</a:t>
                      </a:r>
                    </a:p>
                  </a:txBody>
                  <a:tcPr anchor="ctr"/>
                </a:tc>
                <a:tc>
                  <a:txBody>
                    <a:bodyPr/>
                    <a:lstStyle/>
                    <a:p>
                      <a:r>
                        <a:rPr lang="en-US"/>
                        <a:t>Más industrializado</a:t>
                      </a:r>
                    </a:p>
                  </a:txBody>
                  <a:tcPr anchor="ctr"/>
                </a:tc>
                <a:tc>
                  <a:txBody>
                    <a:bodyPr/>
                    <a:lstStyle/>
                    <a:p>
                      <a:r>
                        <a:rPr lang="en-US"/>
                        <a:t>26,5</a:t>
                      </a:r>
                    </a:p>
                  </a:txBody>
                  <a:tcPr anchor="ctr"/>
                </a:tc>
                <a:extLst>
                  <a:ext uri="{0D108BD9-81ED-4DB2-BD59-A6C34878D82A}">
                    <a16:rowId xmlns:a16="http://schemas.microsoft.com/office/drawing/2014/main" val="4016242908"/>
                  </a:ext>
                </a:extLst>
              </a:tr>
              <a:tr h="0">
                <a:tc>
                  <a:txBody>
                    <a:bodyPr/>
                    <a:lstStyle/>
                    <a:p>
                      <a:r>
                        <a:rPr lang="en-US"/>
                        <a:t>Brasil</a:t>
                      </a:r>
                    </a:p>
                  </a:txBody>
                  <a:tcPr anchor="ctr"/>
                </a:tc>
                <a:tc>
                  <a:txBody>
                    <a:bodyPr/>
                    <a:lstStyle/>
                    <a:p>
                      <a:r>
                        <a:rPr lang="en-US"/>
                        <a:t>Menos industrializado</a:t>
                      </a:r>
                    </a:p>
                  </a:txBody>
                  <a:tcPr anchor="ctr"/>
                </a:tc>
                <a:tc>
                  <a:txBody>
                    <a:bodyPr/>
                    <a:lstStyle/>
                    <a:p>
                      <a:r>
                        <a:rPr lang="en-US"/>
                        <a:t>113,6</a:t>
                      </a:r>
                    </a:p>
                  </a:txBody>
                  <a:tcPr anchor="ctr"/>
                </a:tc>
                <a:extLst>
                  <a:ext uri="{0D108BD9-81ED-4DB2-BD59-A6C34878D82A}">
                    <a16:rowId xmlns:a16="http://schemas.microsoft.com/office/drawing/2014/main" val="152832196"/>
                  </a:ext>
                </a:extLst>
              </a:tr>
              <a:tr h="0">
                <a:tc>
                  <a:txBody>
                    <a:bodyPr/>
                    <a:lstStyle/>
                    <a:p>
                      <a:r>
                        <a:rPr lang="en-US"/>
                        <a:t>Corea del Sur</a:t>
                      </a:r>
                    </a:p>
                  </a:txBody>
                  <a:tcPr anchor="ctr"/>
                </a:tc>
                <a:tc>
                  <a:txBody>
                    <a:bodyPr/>
                    <a:lstStyle/>
                    <a:p>
                      <a:r>
                        <a:rPr lang="en-US"/>
                        <a:t>Más industrializado</a:t>
                      </a:r>
                    </a:p>
                  </a:txBody>
                  <a:tcPr anchor="ctr"/>
                </a:tc>
                <a:tc>
                  <a:txBody>
                    <a:bodyPr/>
                    <a:lstStyle/>
                    <a:p>
                      <a:r>
                        <a:rPr lang="en-US"/>
                        <a:t>183,0</a:t>
                      </a:r>
                    </a:p>
                  </a:txBody>
                  <a:tcPr anchor="ctr"/>
                </a:tc>
                <a:extLst>
                  <a:ext uri="{0D108BD9-81ED-4DB2-BD59-A6C34878D82A}">
                    <a16:rowId xmlns:a16="http://schemas.microsoft.com/office/drawing/2014/main" val="3576024733"/>
                  </a:ext>
                </a:extLst>
              </a:tr>
              <a:tr h="0">
                <a:tc>
                  <a:txBody>
                    <a:bodyPr/>
                    <a:lstStyle/>
                    <a:p>
                      <a:r>
                        <a:rPr lang="en-US" dirty="0"/>
                        <a:t>Argentina</a:t>
                      </a:r>
                    </a:p>
                  </a:txBody>
                  <a:tcPr anchor="ctr"/>
                </a:tc>
                <a:tc>
                  <a:txBody>
                    <a:bodyPr/>
                    <a:lstStyle/>
                    <a:p>
                      <a:r>
                        <a:rPr lang="en-US"/>
                        <a:t>Más industrializado</a:t>
                      </a:r>
                    </a:p>
                  </a:txBody>
                  <a:tcPr anchor="ctr"/>
                </a:tc>
                <a:tc>
                  <a:txBody>
                    <a:bodyPr/>
                    <a:lstStyle/>
                    <a:p>
                      <a:r>
                        <a:rPr lang="en-US" dirty="0"/>
                        <a:t>317,1</a:t>
                      </a:r>
                    </a:p>
                  </a:txBody>
                  <a:tcPr anchor="ctr"/>
                </a:tc>
                <a:extLst>
                  <a:ext uri="{0D108BD9-81ED-4DB2-BD59-A6C34878D82A}">
                    <a16:rowId xmlns:a16="http://schemas.microsoft.com/office/drawing/2014/main" val="1402399647"/>
                  </a:ext>
                </a:extLst>
              </a:tr>
            </a:tbl>
          </a:graphicData>
        </a:graphic>
      </p:graphicFrame>
      <p:sp>
        <p:nvSpPr>
          <p:cNvPr id="5" name="CuadroTexto 4"/>
          <p:cNvSpPr txBox="1"/>
          <p:nvPr/>
        </p:nvSpPr>
        <p:spPr>
          <a:xfrm>
            <a:off x="838200" y="3625037"/>
            <a:ext cx="10515600" cy="3416320"/>
          </a:xfrm>
          <a:prstGeom prst="rect">
            <a:avLst/>
          </a:prstGeom>
          <a:noFill/>
        </p:spPr>
        <p:txBody>
          <a:bodyPr wrap="square" rtlCol="0">
            <a:spAutoFit/>
          </a:bodyPr>
          <a:lstStyle/>
          <a:p>
            <a:r>
              <a:rPr lang="es-ES" dirty="0" smtClean="0">
                <a:latin typeface="Calibri" panose="020F0502020204030204" pitchFamily="34" charset="0"/>
                <a:cs typeface="Calibri" panose="020F0502020204030204" pitchFamily="34" charset="0"/>
              </a:rPr>
              <a:t>Argentina y Brasil se incluyen en este análisis como estudio de caso ilustrativo, en virtud de su afinidad histórica y estructural en materia de procesos de industrialización y desindustrialización a lo largo del siglo veinte. No deben interpretarse como representantes de los dos grupos de la clasificación 2023, dado que, bajo dicho criterio, Argentina integra el grupo de mayor industrialización junto con China y Corea del Sur, según se detalla en la </a:t>
            </a:r>
            <a:r>
              <a:rPr lang="es-ES" dirty="0" err="1" smtClean="0">
                <a:latin typeface="Calibri" panose="020F0502020204030204" pitchFamily="34" charset="0"/>
                <a:cs typeface="Calibri" panose="020F0502020204030204" pitchFamily="34" charset="0"/>
              </a:rPr>
              <a:t>slide</a:t>
            </a:r>
            <a:r>
              <a:rPr lang="es-ES" dirty="0" smtClean="0">
                <a:latin typeface="Calibri" panose="020F0502020204030204" pitchFamily="34" charset="0"/>
                <a:cs typeface="Calibri" panose="020F0502020204030204" pitchFamily="34" charset="0"/>
              </a:rPr>
              <a:t> 9.</a:t>
            </a:r>
          </a:p>
          <a:p>
            <a:r>
              <a:rPr lang="es-ES" dirty="0" smtClean="0">
                <a:latin typeface="Calibri" panose="020F0502020204030204" pitchFamily="34" charset="0"/>
                <a:cs typeface="Calibri" panose="020F0502020204030204" pitchFamily="34" charset="0"/>
              </a:rPr>
              <a:t>Argentina presenta la mayor volatilidad de las cuatro series analizadas, considerablemente superior a la de China, pese a integrar el mismo grupo de clasificación. Esto sugiere que el nivel de industrialización, por sí solo, no garantiza una trayectoria de crecimiento más estable.</a:t>
            </a:r>
          </a:p>
          <a:p>
            <a:r>
              <a:rPr lang="es-ES" dirty="0" smtClean="0">
                <a:latin typeface="Calibri" panose="020F0502020204030204" pitchFamily="34" charset="0"/>
                <a:cs typeface="Calibri" panose="020F0502020204030204" pitchFamily="34" charset="0"/>
              </a:rPr>
              <a:t>Justificación de la técnica elegida, el suavizado LOESS permite aislar la tendencia de largo plazo de la volatilidad de corto plazo asociada a shocks económicos, lo cual resulta apropiado para series anuales con eventos de crisis o alta inflación, como los registrados en Argentina durante el período analizado.</a:t>
            </a:r>
          </a:p>
          <a:p>
            <a:endParaRPr lang="es-ES" dirty="0"/>
          </a:p>
        </p:txBody>
      </p:sp>
    </p:spTree>
    <p:extLst>
      <p:ext uri="{BB962C8B-B14F-4D97-AF65-F5344CB8AC3E}">
        <p14:creationId xmlns:p14="http://schemas.microsoft.com/office/powerpoint/2010/main" val="871588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74638"/>
            <a:ext cx="10515600" cy="639762"/>
          </a:xfrm>
        </p:spPr>
        <p:txBody>
          <a:bodyPr>
            <a:normAutofit/>
          </a:bodyPr>
          <a:lstStyle/>
          <a:p>
            <a:pPr algn="ctr"/>
            <a:r>
              <a:rPr lang="en-US" sz="3000" b="1" dirty="0" smtClean="0">
                <a:solidFill>
                  <a:srgbClr val="1A1A1A"/>
                </a:solidFill>
                <a:latin typeface="Cambria" panose="02040503050406030204" pitchFamily="18" charset="0"/>
                <a:cs typeface="Cambria" panose="02040503050406030204" pitchFamily="18" charset="0"/>
              </a:rPr>
              <a:t>Test de Welch (</a:t>
            </a:r>
            <a:r>
              <a:rPr lang="en-US" sz="3000" b="1" dirty="0" err="1" smtClean="0">
                <a:solidFill>
                  <a:srgbClr val="1A1A1A"/>
                </a:solidFill>
                <a:latin typeface="Cambria" panose="02040503050406030204" pitchFamily="18" charset="0"/>
                <a:cs typeface="Cambria" panose="02040503050406030204" pitchFamily="18" charset="0"/>
              </a:rPr>
              <a:t>hipótesis</a:t>
            </a:r>
            <a:r>
              <a:rPr lang="en-US" sz="3000" b="1" dirty="0" smtClean="0">
                <a:solidFill>
                  <a:srgbClr val="1A1A1A"/>
                </a:solidFill>
                <a:latin typeface="Cambria" panose="02040503050406030204" pitchFamily="18" charset="0"/>
                <a:cs typeface="Cambria" panose="02040503050406030204" pitchFamily="18" charset="0"/>
              </a:rPr>
              <a:t> principal)</a:t>
            </a:r>
            <a:endParaRPr lang="es-ES" sz="3000" b="1" dirty="0">
              <a:solidFill>
                <a:srgbClr val="1A1A1A"/>
              </a:solidFill>
              <a:latin typeface="Cambria" panose="02040503050406030204" pitchFamily="18" charset="0"/>
              <a:cs typeface="Cambria" panose="02040503050406030204" pitchFamily="18" charset="0"/>
            </a:endParaRPr>
          </a:p>
        </p:txBody>
      </p:sp>
      <p:graphicFrame>
        <p:nvGraphicFramePr>
          <p:cNvPr id="18" name="Marcador de contenido 17"/>
          <p:cNvGraphicFramePr>
            <a:graphicFrameLocks noGrp="1"/>
          </p:cNvGraphicFramePr>
          <p:nvPr>
            <p:ph idx="1"/>
            <p:extLst>
              <p:ext uri="{D42A27DB-BD31-4B8C-83A1-F6EECF244321}">
                <p14:modId xmlns:p14="http://schemas.microsoft.com/office/powerpoint/2010/main" val="485281566"/>
              </p:ext>
            </p:extLst>
          </p:nvPr>
        </p:nvGraphicFramePr>
        <p:xfrm>
          <a:off x="838200" y="1560731"/>
          <a:ext cx="10515600" cy="1463040"/>
        </p:xfrm>
        <a:graphic>
          <a:graphicData uri="http://schemas.openxmlformats.org/drawingml/2006/table">
            <a:tbl>
              <a:tblPr firstRow="1" bandRow="1">
                <a:tableStyleId>{073A0DAA-6AF3-43AB-8588-CEC1D06C72B9}</a:tableStyleId>
              </a:tblPr>
              <a:tblGrid>
                <a:gridCol w="5257800">
                  <a:extLst>
                    <a:ext uri="{9D8B030D-6E8A-4147-A177-3AD203B41FA5}">
                      <a16:colId xmlns:a16="http://schemas.microsoft.com/office/drawing/2014/main" val="2132452528"/>
                    </a:ext>
                  </a:extLst>
                </a:gridCol>
                <a:gridCol w="5257800">
                  <a:extLst>
                    <a:ext uri="{9D8B030D-6E8A-4147-A177-3AD203B41FA5}">
                      <a16:colId xmlns:a16="http://schemas.microsoft.com/office/drawing/2014/main" val="984944920"/>
                    </a:ext>
                  </a:extLst>
                </a:gridCol>
              </a:tblGrid>
              <a:tr h="0">
                <a:tc>
                  <a:txBody>
                    <a:bodyPr/>
                    <a:lstStyle/>
                    <a:p>
                      <a:r>
                        <a:rPr lang="en-US" dirty="0" err="1">
                          <a:latin typeface="Calibri" panose="020F0502020204030204" pitchFamily="34" charset="0"/>
                          <a:cs typeface="Calibri" panose="020F0502020204030204" pitchFamily="34" charset="0"/>
                        </a:rPr>
                        <a:t>Supuesto</a:t>
                      </a:r>
                      <a:endParaRPr lang="en-US" dirty="0">
                        <a:latin typeface="Calibri" panose="020F0502020204030204" pitchFamily="34" charset="0"/>
                        <a:cs typeface="Calibri" panose="020F0502020204030204" pitchFamily="34" charset="0"/>
                      </a:endParaRPr>
                    </a:p>
                  </a:txBody>
                  <a:tcPr anchor="ctr"/>
                </a:tc>
                <a:tc>
                  <a:txBody>
                    <a:bodyPr/>
                    <a:lstStyle/>
                    <a:p>
                      <a:r>
                        <a:rPr lang="en-US" dirty="0" err="1">
                          <a:latin typeface="Calibri" panose="020F0502020204030204" pitchFamily="34" charset="0"/>
                          <a:cs typeface="Calibri" panose="020F0502020204030204" pitchFamily="34" charset="0"/>
                        </a:rPr>
                        <a:t>Resultado</a:t>
                      </a:r>
                      <a:endParaRPr lang="en-US"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64839070"/>
                  </a:ext>
                </a:extLst>
              </a:tr>
              <a:tr h="0">
                <a:tc>
                  <a:txBody>
                    <a:bodyPr/>
                    <a:lstStyle/>
                    <a:p>
                      <a:r>
                        <a:rPr lang="en-US" dirty="0" err="1">
                          <a:latin typeface="Calibri" panose="020F0502020204030204" pitchFamily="34" charset="0"/>
                          <a:cs typeface="Calibri" panose="020F0502020204030204" pitchFamily="34" charset="0"/>
                        </a:rPr>
                        <a:t>Independencia</a:t>
                      </a:r>
                      <a:endParaRPr lang="en-US" dirty="0">
                        <a:latin typeface="Calibri" panose="020F0502020204030204" pitchFamily="34" charset="0"/>
                        <a:cs typeface="Calibri" panose="020F0502020204030204" pitchFamily="34" charset="0"/>
                      </a:endParaRPr>
                    </a:p>
                  </a:txBody>
                  <a:tcPr anchor="ctr"/>
                </a:tc>
                <a:tc>
                  <a:txBody>
                    <a:bodyPr/>
                    <a:lstStyle/>
                    <a:p>
                      <a:r>
                        <a:rPr lang="en-US" dirty="0">
                          <a:latin typeface="Calibri" panose="020F0502020204030204" pitchFamily="34" charset="0"/>
                          <a:cs typeface="Calibri" panose="020F0502020204030204" pitchFamily="34" charset="0"/>
                        </a:rPr>
                        <a:t>Se </a:t>
                      </a:r>
                      <a:r>
                        <a:rPr lang="en-US" dirty="0" err="1">
                          <a:latin typeface="Calibri" panose="020F0502020204030204" pitchFamily="34" charset="0"/>
                          <a:cs typeface="Calibri" panose="020F0502020204030204" pitchFamily="34" charset="0"/>
                        </a:rPr>
                        <a:t>considera</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razonable</a:t>
                      </a:r>
                      <a:endParaRPr lang="en-US"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616569950"/>
                  </a:ext>
                </a:extLst>
              </a:tr>
              <a:tr h="0">
                <a:tc>
                  <a:txBody>
                    <a:bodyPr/>
                    <a:lstStyle/>
                    <a:p>
                      <a:r>
                        <a:rPr lang="en-US">
                          <a:latin typeface="Calibri" panose="020F0502020204030204" pitchFamily="34" charset="0"/>
                          <a:cs typeface="Calibri" panose="020F0502020204030204" pitchFamily="34" charset="0"/>
                        </a:rPr>
                        <a:t>Normalidad (grupo más industrializado)</a:t>
                      </a:r>
                    </a:p>
                  </a:txBody>
                  <a:tcPr anchor="ctr"/>
                </a:tc>
                <a:tc>
                  <a:txBody>
                    <a:bodyPr/>
                    <a:lstStyle/>
                    <a:p>
                      <a:r>
                        <a:rPr lang="en-US" dirty="0">
                          <a:latin typeface="Calibri" panose="020F0502020204030204" pitchFamily="34" charset="0"/>
                          <a:cs typeface="Calibri" panose="020F0502020204030204" pitchFamily="34" charset="0"/>
                        </a:rPr>
                        <a:t>Se </a:t>
                      </a:r>
                      <a:r>
                        <a:rPr lang="en-US" dirty="0" err="1">
                          <a:latin typeface="Calibri" panose="020F0502020204030204" pitchFamily="34" charset="0"/>
                          <a:cs typeface="Calibri" panose="020F0502020204030204" pitchFamily="34" charset="0"/>
                        </a:rPr>
                        <a:t>rechaza</a:t>
                      </a:r>
                      <a:r>
                        <a:rPr lang="en-US" dirty="0">
                          <a:latin typeface="Calibri" panose="020F0502020204030204" pitchFamily="34" charset="0"/>
                          <a:cs typeface="Calibri" panose="020F0502020204030204" pitchFamily="34" charset="0"/>
                        </a:rPr>
                        <a:t> (p = 0,0002)</a:t>
                      </a:r>
                    </a:p>
                  </a:txBody>
                  <a:tcPr anchor="ctr"/>
                </a:tc>
                <a:extLst>
                  <a:ext uri="{0D108BD9-81ED-4DB2-BD59-A6C34878D82A}">
                    <a16:rowId xmlns:a16="http://schemas.microsoft.com/office/drawing/2014/main" val="215212462"/>
                  </a:ext>
                </a:extLst>
              </a:tr>
              <a:tr h="0">
                <a:tc>
                  <a:txBody>
                    <a:bodyPr/>
                    <a:lstStyle/>
                    <a:p>
                      <a:r>
                        <a:rPr lang="en-US">
                          <a:latin typeface="Calibri" panose="020F0502020204030204" pitchFamily="34" charset="0"/>
                          <a:cs typeface="Calibri" panose="020F0502020204030204" pitchFamily="34" charset="0"/>
                        </a:rPr>
                        <a:t>Normalidad (grupo menos industrializado)</a:t>
                      </a:r>
                    </a:p>
                  </a:txBody>
                  <a:tcPr anchor="ctr"/>
                </a:tc>
                <a:tc>
                  <a:txBody>
                    <a:bodyPr/>
                    <a:lstStyle/>
                    <a:p>
                      <a:r>
                        <a:rPr lang="es-ES" dirty="0">
                          <a:latin typeface="Calibri" panose="020F0502020204030204" pitchFamily="34" charset="0"/>
                          <a:cs typeface="Calibri" panose="020F0502020204030204" pitchFamily="34" charset="0"/>
                        </a:rPr>
                        <a:t>No se rechaza (p = 0,506)</a:t>
                      </a:r>
                    </a:p>
                  </a:txBody>
                  <a:tcPr anchor="ctr"/>
                </a:tc>
                <a:extLst>
                  <a:ext uri="{0D108BD9-81ED-4DB2-BD59-A6C34878D82A}">
                    <a16:rowId xmlns:a16="http://schemas.microsoft.com/office/drawing/2014/main" val="2827519945"/>
                  </a:ext>
                </a:extLst>
              </a:tr>
            </a:tbl>
          </a:graphicData>
        </a:graphic>
      </p:graphicFrame>
      <p:sp>
        <p:nvSpPr>
          <p:cNvPr id="17" name="CuadroTexto 16"/>
          <p:cNvSpPr txBox="1"/>
          <p:nvPr/>
        </p:nvSpPr>
        <p:spPr>
          <a:xfrm>
            <a:off x="838200" y="914400"/>
            <a:ext cx="10515600" cy="646331"/>
          </a:xfrm>
          <a:prstGeom prst="rect">
            <a:avLst/>
          </a:prstGeom>
          <a:noFill/>
        </p:spPr>
        <p:txBody>
          <a:bodyPr wrap="square" rtlCol="0">
            <a:spAutoFit/>
          </a:bodyPr>
          <a:lstStyle/>
          <a:p>
            <a:r>
              <a:rPr lang="es-ES" dirty="0" smtClean="0">
                <a:latin typeface="Calibri" panose="020F0502020204030204" pitchFamily="34" charset="0"/>
                <a:cs typeface="Calibri" panose="020F0502020204030204" pitchFamily="34" charset="0"/>
              </a:rPr>
              <a:t>Se utiliza el test de </a:t>
            </a:r>
            <a:r>
              <a:rPr lang="es-ES" dirty="0" err="1" smtClean="0">
                <a:latin typeface="Calibri" panose="020F0502020204030204" pitchFamily="34" charset="0"/>
                <a:cs typeface="Calibri" panose="020F0502020204030204" pitchFamily="34" charset="0"/>
              </a:rPr>
              <a:t>Welch</a:t>
            </a:r>
            <a:r>
              <a:rPr lang="es-ES" dirty="0" smtClean="0">
                <a:latin typeface="Calibri" panose="020F0502020204030204" pitchFamily="34" charset="0"/>
                <a:cs typeface="Calibri" panose="020F0502020204030204" pitchFamily="34" charset="0"/>
              </a:rPr>
              <a:t> en lugar del test t clásico debido a que este último requiere igualdad de varianzas entre grupos, supuesto poco razonable al comparar países con trayectorias de crecimiento heterogéneas.</a:t>
            </a:r>
            <a:endParaRPr lang="es-ES" dirty="0">
              <a:latin typeface="Calibri" panose="020F0502020204030204" pitchFamily="34" charset="0"/>
              <a:cs typeface="Calibri" panose="020F0502020204030204" pitchFamily="34" charset="0"/>
            </a:endParaRPr>
          </a:p>
        </p:txBody>
      </p:sp>
      <p:sp>
        <p:nvSpPr>
          <p:cNvPr id="19" name="CuadroTexto 18"/>
          <p:cNvSpPr txBox="1"/>
          <p:nvPr/>
        </p:nvSpPr>
        <p:spPr>
          <a:xfrm>
            <a:off x="838200" y="3023771"/>
            <a:ext cx="10515600" cy="646331"/>
          </a:xfrm>
          <a:prstGeom prst="rect">
            <a:avLst/>
          </a:prstGeom>
          <a:noFill/>
        </p:spPr>
        <p:txBody>
          <a:bodyPr wrap="square" rtlCol="0">
            <a:spAutoFit/>
          </a:bodyPr>
          <a:lstStyle/>
          <a:p>
            <a:r>
              <a:rPr lang="es-ES" dirty="0" smtClean="0">
                <a:latin typeface="Calibri" panose="020F0502020204030204" pitchFamily="34" charset="0"/>
                <a:cs typeface="Calibri" panose="020F0502020204030204" pitchFamily="34" charset="0"/>
              </a:rPr>
              <a:t>Se presenta una limitación por el tamaño </a:t>
            </a:r>
            <a:r>
              <a:rPr lang="es-ES" dirty="0" err="1" smtClean="0">
                <a:latin typeface="Calibri" panose="020F0502020204030204" pitchFamily="34" charset="0"/>
                <a:cs typeface="Calibri" panose="020F0502020204030204" pitchFamily="34" charset="0"/>
              </a:rPr>
              <a:t>muestral</a:t>
            </a:r>
            <a:r>
              <a:rPr lang="es-ES" dirty="0" smtClean="0">
                <a:latin typeface="Calibri" panose="020F0502020204030204" pitchFamily="34" charset="0"/>
                <a:cs typeface="Calibri" panose="020F0502020204030204" pitchFamily="34" charset="0"/>
              </a:rPr>
              <a:t> reducido (n = 7 y n = 8) disminuye la potencia del test de normalidad, por lo que estos resultados deben interpretarse con cautela.</a:t>
            </a:r>
            <a:endParaRPr lang="es-ES" dirty="0">
              <a:latin typeface="Calibri" panose="020F0502020204030204" pitchFamily="34" charset="0"/>
              <a:cs typeface="Calibri" panose="020F0502020204030204" pitchFamily="34" charset="0"/>
            </a:endParaRPr>
          </a:p>
        </p:txBody>
      </p:sp>
      <p:graphicFrame>
        <p:nvGraphicFramePr>
          <p:cNvPr id="20" name="Tabla 19"/>
          <p:cNvGraphicFramePr>
            <a:graphicFrameLocks noGrp="1"/>
          </p:cNvGraphicFramePr>
          <p:nvPr>
            <p:extLst>
              <p:ext uri="{D42A27DB-BD31-4B8C-83A1-F6EECF244321}">
                <p14:modId xmlns:p14="http://schemas.microsoft.com/office/powerpoint/2010/main" val="1955729129"/>
              </p:ext>
            </p:extLst>
          </p:nvPr>
        </p:nvGraphicFramePr>
        <p:xfrm>
          <a:off x="838200" y="3670102"/>
          <a:ext cx="10515600" cy="2207468"/>
        </p:xfrm>
        <a:graphic>
          <a:graphicData uri="http://schemas.openxmlformats.org/drawingml/2006/table">
            <a:tbl>
              <a:tblPr firstRow="1" bandRow="1">
                <a:tableStyleId>{073A0DAA-6AF3-43AB-8588-CEC1D06C72B9}</a:tableStyleId>
              </a:tblPr>
              <a:tblGrid>
                <a:gridCol w="5257800">
                  <a:extLst>
                    <a:ext uri="{9D8B030D-6E8A-4147-A177-3AD203B41FA5}">
                      <a16:colId xmlns:a16="http://schemas.microsoft.com/office/drawing/2014/main" val="3698295884"/>
                    </a:ext>
                  </a:extLst>
                </a:gridCol>
                <a:gridCol w="5257800">
                  <a:extLst>
                    <a:ext uri="{9D8B030D-6E8A-4147-A177-3AD203B41FA5}">
                      <a16:colId xmlns:a16="http://schemas.microsoft.com/office/drawing/2014/main" val="2358466983"/>
                    </a:ext>
                  </a:extLst>
                </a:gridCol>
              </a:tblGrid>
              <a:tr h="378668">
                <a:tc>
                  <a:txBody>
                    <a:bodyPr/>
                    <a:lstStyle/>
                    <a:p>
                      <a:r>
                        <a:rPr lang="en-US" dirty="0" err="1">
                          <a:latin typeface="Calibri" panose="020F0502020204030204" pitchFamily="34" charset="0"/>
                          <a:cs typeface="Calibri" panose="020F0502020204030204" pitchFamily="34" charset="0"/>
                        </a:rPr>
                        <a:t>Indicador</a:t>
                      </a:r>
                      <a:endParaRPr lang="en-US" dirty="0">
                        <a:latin typeface="Calibri" panose="020F0502020204030204" pitchFamily="34" charset="0"/>
                        <a:cs typeface="Calibri" panose="020F0502020204030204" pitchFamily="34" charset="0"/>
                      </a:endParaRPr>
                    </a:p>
                  </a:txBody>
                  <a:tcPr anchor="ctr"/>
                </a:tc>
                <a:tc>
                  <a:txBody>
                    <a:bodyPr/>
                    <a:lstStyle/>
                    <a:p>
                      <a:r>
                        <a:rPr lang="en-US" dirty="0"/>
                        <a:t>Valor</a:t>
                      </a:r>
                    </a:p>
                  </a:txBody>
                  <a:tcPr anchor="ctr"/>
                </a:tc>
                <a:extLst>
                  <a:ext uri="{0D108BD9-81ED-4DB2-BD59-A6C34878D82A}">
                    <a16:rowId xmlns:a16="http://schemas.microsoft.com/office/drawing/2014/main" val="3510936696"/>
                  </a:ext>
                </a:extLst>
              </a:tr>
              <a:tr h="307996">
                <a:tc>
                  <a:txBody>
                    <a:bodyPr/>
                    <a:lstStyle/>
                    <a:p>
                      <a:r>
                        <a:rPr lang="en-US">
                          <a:latin typeface="Calibri" panose="020F0502020204030204" pitchFamily="34" charset="0"/>
                          <a:cs typeface="Calibri" panose="020F0502020204030204" pitchFamily="34" charset="0"/>
                        </a:rPr>
                        <a:t>Media, grupo más industrializado</a:t>
                      </a:r>
                    </a:p>
                  </a:txBody>
                  <a:tcPr anchor="ctr"/>
                </a:tc>
                <a:tc>
                  <a:txBody>
                    <a:bodyPr/>
                    <a:lstStyle/>
                    <a:p>
                      <a:r>
                        <a:rPr lang="en-US" dirty="0">
                          <a:latin typeface="Calibri" panose="020F0502020204030204" pitchFamily="34" charset="0"/>
                          <a:cs typeface="Calibri" panose="020F0502020204030204" pitchFamily="34" charset="0"/>
                        </a:rPr>
                        <a:t>841,1%</a:t>
                      </a:r>
                    </a:p>
                  </a:txBody>
                  <a:tcPr anchor="ctr"/>
                </a:tc>
                <a:extLst>
                  <a:ext uri="{0D108BD9-81ED-4DB2-BD59-A6C34878D82A}">
                    <a16:rowId xmlns:a16="http://schemas.microsoft.com/office/drawing/2014/main" val="3109046477"/>
                  </a:ext>
                </a:extLst>
              </a:tr>
              <a:tr h="307996">
                <a:tc>
                  <a:txBody>
                    <a:bodyPr/>
                    <a:lstStyle/>
                    <a:p>
                      <a:r>
                        <a:rPr lang="en-US"/>
                        <a:t>Media, grupo menos industrializado</a:t>
                      </a:r>
                    </a:p>
                  </a:txBody>
                  <a:tcPr anchor="ctr"/>
                </a:tc>
                <a:tc>
                  <a:txBody>
                    <a:bodyPr/>
                    <a:lstStyle/>
                    <a:p>
                      <a:r>
                        <a:rPr lang="en-US"/>
                        <a:t>253,4%</a:t>
                      </a:r>
                    </a:p>
                  </a:txBody>
                  <a:tcPr anchor="ctr"/>
                </a:tc>
                <a:extLst>
                  <a:ext uri="{0D108BD9-81ED-4DB2-BD59-A6C34878D82A}">
                    <a16:rowId xmlns:a16="http://schemas.microsoft.com/office/drawing/2014/main" val="2980854379"/>
                  </a:ext>
                </a:extLst>
              </a:tr>
              <a:tr h="307996">
                <a:tc>
                  <a:txBody>
                    <a:bodyPr/>
                    <a:lstStyle/>
                    <a:p>
                      <a:r>
                        <a:rPr lang="en-US"/>
                        <a:t>Estadístico t de Welch</a:t>
                      </a:r>
                    </a:p>
                  </a:txBody>
                  <a:tcPr anchor="ctr"/>
                </a:tc>
                <a:tc>
                  <a:txBody>
                    <a:bodyPr/>
                    <a:lstStyle/>
                    <a:p>
                      <a:r>
                        <a:rPr lang="en-US"/>
                        <a:t>1,114</a:t>
                      </a:r>
                    </a:p>
                  </a:txBody>
                  <a:tcPr anchor="ctr"/>
                </a:tc>
                <a:extLst>
                  <a:ext uri="{0D108BD9-81ED-4DB2-BD59-A6C34878D82A}">
                    <a16:rowId xmlns:a16="http://schemas.microsoft.com/office/drawing/2014/main" val="1728113207"/>
                  </a:ext>
                </a:extLst>
              </a:tr>
              <a:tr h="307996">
                <a:tc>
                  <a:txBody>
                    <a:bodyPr/>
                    <a:lstStyle/>
                    <a:p>
                      <a:r>
                        <a:rPr lang="en-US"/>
                        <a:t>Valor p</a:t>
                      </a:r>
                    </a:p>
                  </a:txBody>
                  <a:tcPr anchor="ctr"/>
                </a:tc>
                <a:tc>
                  <a:txBody>
                    <a:bodyPr/>
                    <a:lstStyle/>
                    <a:p>
                      <a:r>
                        <a:rPr lang="en-US"/>
                        <a:t>0,301</a:t>
                      </a:r>
                    </a:p>
                  </a:txBody>
                  <a:tcPr anchor="ctr"/>
                </a:tc>
                <a:extLst>
                  <a:ext uri="{0D108BD9-81ED-4DB2-BD59-A6C34878D82A}">
                    <a16:rowId xmlns:a16="http://schemas.microsoft.com/office/drawing/2014/main" val="2610331786"/>
                  </a:ext>
                </a:extLst>
              </a:tr>
              <a:tr h="307996">
                <a:tc>
                  <a:txBody>
                    <a:bodyPr/>
                    <a:lstStyle/>
                    <a:p>
                      <a:r>
                        <a:rPr lang="es-ES"/>
                        <a:t>IC 95% de la diferencia</a:t>
                      </a:r>
                    </a:p>
                  </a:txBody>
                  <a:tcPr anchor="ctr"/>
                </a:tc>
                <a:tc>
                  <a:txBody>
                    <a:bodyPr/>
                    <a:lstStyle/>
                    <a:p>
                      <a:r>
                        <a:rPr lang="en-US" dirty="0"/>
                        <a:t>[-654 ; 1.830]</a:t>
                      </a:r>
                    </a:p>
                  </a:txBody>
                  <a:tcPr anchor="ctr"/>
                </a:tc>
                <a:extLst>
                  <a:ext uri="{0D108BD9-81ED-4DB2-BD59-A6C34878D82A}">
                    <a16:rowId xmlns:a16="http://schemas.microsoft.com/office/drawing/2014/main" val="953793015"/>
                  </a:ext>
                </a:extLst>
              </a:tr>
            </a:tbl>
          </a:graphicData>
        </a:graphic>
      </p:graphicFrame>
      <p:sp>
        <p:nvSpPr>
          <p:cNvPr id="21" name="CuadroTexto 20"/>
          <p:cNvSpPr txBox="1"/>
          <p:nvPr/>
        </p:nvSpPr>
        <p:spPr>
          <a:xfrm>
            <a:off x="838200" y="5877570"/>
            <a:ext cx="10515600" cy="923330"/>
          </a:xfrm>
          <a:prstGeom prst="rect">
            <a:avLst/>
          </a:prstGeom>
          <a:noFill/>
        </p:spPr>
        <p:txBody>
          <a:bodyPr wrap="square" rtlCol="0">
            <a:spAutoFit/>
          </a:bodyPr>
          <a:lstStyle/>
          <a:p>
            <a:r>
              <a:rPr lang="es-ES" dirty="0" smtClean="0">
                <a:latin typeface="Calibri" panose="020F0502020204030204" pitchFamily="34" charset="0"/>
                <a:cs typeface="Calibri" panose="020F0502020204030204" pitchFamily="34" charset="0"/>
              </a:rPr>
              <a:t>No se rechaza la hipótesis nula al 5% de significancia. Si bien el grupo más industrializado presenta un crecimiento promedio superior, la elevada dispersión interna genera un intervalo de confianza amplio que incluye al valor cero.</a:t>
            </a:r>
            <a:endParaRPr lang="es-E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1362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74638"/>
            <a:ext cx="10515600" cy="1050925"/>
          </a:xfrm>
        </p:spPr>
        <p:txBody>
          <a:bodyPr>
            <a:normAutofit/>
          </a:bodyPr>
          <a:lstStyle/>
          <a:p>
            <a:pPr algn="ctr"/>
            <a:r>
              <a:rPr lang="es-ES" sz="3000" b="1" dirty="0" smtClean="0">
                <a:solidFill>
                  <a:srgbClr val="1A1A1A"/>
                </a:solidFill>
                <a:latin typeface="Cambria" panose="02040503050406030204" pitchFamily="18" charset="0"/>
                <a:cs typeface="Cambria" panose="02040503050406030204" pitchFamily="18" charset="0"/>
              </a:rPr>
              <a:t>Método exploratorio coeficiente de </a:t>
            </a:r>
            <a:r>
              <a:rPr lang="es-ES" sz="3000" b="1" dirty="0" err="1" smtClean="0">
                <a:solidFill>
                  <a:srgbClr val="1A1A1A"/>
                </a:solidFill>
                <a:latin typeface="Cambria" panose="02040503050406030204" pitchFamily="18" charset="0"/>
                <a:cs typeface="Cambria" panose="02040503050406030204" pitchFamily="18" charset="0"/>
              </a:rPr>
              <a:t>Gini</a:t>
            </a:r>
            <a:r>
              <a:rPr lang="es-ES" sz="3000" b="1" dirty="0" smtClean="0">
                <a:solidFill>
                  <a:srgbClr val="1A1A1A"/>
                </a:solidFill>
                <a:latin typeface="Cambria" panose="02040503050406030204" pitchFamily="18" charset="0"/>
                <a:cs typeface="Cambria" panose="02040503050406030204" pitchFamily="18" charset="0"/>
              </a:rPr>
              <a:t> y nivel de industrialización</a:t>
            </a:r>
            <a:endParaRPr lang="es-ES" sz="3000" b="1" dirty="0">
              <a:solidFill>
                <a:srgbClr val="1A1A1A"/>
              </a:solidFill>
              <a:latin typeface="Cambria" panose="02040503050406030204" pitchFamily="18" charset="0"/>
              <a:cs typeface="Cambria" panose="02040503050406030204" pitchFamily="18" charset="0"/>
            </a:endParaRPr>
          </a:p>
        </p:txBody>
      </p:sp>
      <p:sp>
        <p:nvSpPr>
          <p:cNvPr id="5" name="Marcador de contenido 4"/>
          <p:cNvSpPr>
            <a:spLocks noGrp="1"/>
          </p:cNvSpPr>
          <p:nvPr>
            <p:ph sz="half" idx="2"/>
          </p:nvPr>
        </p:nvSpPr>
        <p:spPr>
          <a:xfrm>
            <a:off x="6134100" y="1325562"/>
            <a:ext cx="6057900" cy="5532437"/>
          </a:xfrm>
        </p:spPr>
        <p:txBody>
          <a:bodyPr>
            <a:normAutofit/>
          </a:bodyPr>
          <a:lstStyle/>
          <a:p>
            <a:pPr marL="0" indent="0">
              <a:buNone/>
            </a:pPr>
            <a:r>
              <a:rPr lang="es-ES" sz="1300" dirty="0">
                <a:cs typeface="Calibri" panose="020F0502020204030204" pitchFamily="34" charset="0"/>
              </a:rPr>
              <a:t>E</a:t>
            </a:r>
            <a:r>
              <a:rPr lang="es-ES" sz="1300" dirty="0" smtClean="0">
                <a:cs typeface="Calibri" panose="020F0502020204030204" pitchFamily="34" charset="0"/>
              </a:rPr>
              <a:t>l gráfico muestra la evolución conjunta del coeficiente de </a:t>
            </a:r>
            <a:r>
              <a:rPr lang="es-ES" sz="1300" dirty="0" err="1" smtClean="0">
                <a:cs typeface="Calibri" panose="020F0502020204030204" pitchFamily="34" charset="0"/>
              </a:rPr>
              <a:t>Gini</a:t>
            </a:r>
            <a:r>
              <a:rPr lang="es-ES" sz="1300" dirty="0" smtClean="0">
                <a:cs typeface="Calibri" panose="020F0502020204030204" pitchFamily="34" charset="0"/>
              </a:rPr>
              <a:t> y el índice de PBI industrial per cápita en cuatro etiquetas temporales de referencia, identificadas como A, B, C y D, correspondientes a los años 1970, 1990, 2010 y 2023, para dos pares de países, China y Corea del Sur, por un lado, y Argentina y Brasil, por el otro.</a:t>
            </a:r>
          </a:p>
          <a:p>
            <a:pPr marL="0" indent="0">
              <a:buNone/>
            </a:pPr>
            <a:r>
              <a:rPr lang="es-ES" sz="1300" dirty="0">
                <a:cs typeface="Calibri" panose="020F0502020204030204" pitchFamily="34" charset="0"/>
              </a:rPr>
              <a:t>E</a:t>
            </a:r>
            <a:r>
              <a:rPr lang="es-ES" sz="1300" dirty="0" smtClean="0">
                <a:cs typeface="Calibri" panose="020F0502020204030204" pitchFamily="34" charset="0"/>
              </a:rPr>
              <a:t>stos países se agrupan por su valor ilustrativo y su afinidad histórica, y no porque representen los dos grupos de la clasificación vigente. Bajo el criterio de clasificación por nivel de industrialización en 2023, Argentina integra el grupo de mayor industrialización, según se detalla en la </a:t>
            </a:r>
            <a:r>
              <a:rPr lang="es-ES" sz="1300" dirty="0" err="1" smtClean="0">
                <a:cs typeface="Calibri" panose="020F0502020204030204" pitchFamily="34" charset="0"/>
              </a:rPr>
              <a:t>slide</a:t>
            </a:r>
            <a:r>
              <a:rPr lang="es-ES" sz="1300" dirty="0" smtClean="0">
                <a:cs typeface="Calibri" panose="020F0502020204030204" pitchFamily="34" charset="0"/>
              </a:rPr>
              <a:t> 9.</a:t>
            </a:r>
          </a:p>
          <a:p>
            <a:pPr marL="0" indent="0">
              <a:buNone/>
            </a:pPr>
            <a:r>
              <a:rPr lang="es-ES" sz="1300" dirty="0">
                <a:cs typeface="Calibri" panose="020F0502020204030204" pitchFamily="34" charset="0"/>
              </a:rPr>
              <a:t>E</a:t>
            </a:r>
            <a:r>
              <a:rPr lang="es-ES" sz="1300" dirty="0" smtClean="0">
                <a:cs typeface="Calibri" panose="020F0502020204030204" pitchFamily="34" charset="0"/>
              </a:rPr>
              <a:t>l coeficiente de </a:t>
            </a:r>
            <a:r>
              <a:rPr lang="es-ES" sz="1300" dirty="0" err="1" smtClean="0">
                <a:cs typeface="Calibri" panose="020F0502020204030204" pitchFamily="34" charset="0"/>
              </a:rPr>
              <a:t>Gini</a:t>
            </a:r>
            <a:r>
              <a:rPr lang="es-ES" sz="1300" dirty="0" smtClean="0">
                <a:cs typeface="Calibri" panose="020F0502020204030204" pitchFamily="34" charset="0"/>
              </a:rPr>
              <a:t> no fue relevado en los años exactos 1970, 1990, 2010 y 2023 para la mayoría de los países incluidos en el panel. Por este motivo, se utilizó, para cada etiqueta de referencia, el dato real disponible más próximo en el tiempo, siguiendo un criterio sugerido previamente por el docente a cargo de la materia. El desfasaje entre el año de referencia y el año real del dato utilizado varía considerablemente según el país, en la mayoría de los casos es de uno a dos años, pero en algunos resulta considerable. El caso más extremo corresponde a Corea del Sur, cuya etiqueta correspondiente a 1970 utiliza un dato real del año 2006, lo que representa una diferencia de treinta y seis años. El detalle completo de los desfasajes por país se encuentra documentado en el repositorio del trabajo.</a:t>
            </a:r>
          </a:p>
          <a:p>
            <a:pPr marL="0" indent="0">
              <a:buNone/>
            </a:pPr>
            <a:r>
              <a:rPr lang="es-ES" sz="1300" dirty="0"/>
              <a:t>La recta de tendencia, estimada sobre el conjunto de los 15 países, confirma una asociación negativa entre nivel de industrialización y coeficiente de </a:t>
            </a:r>
            <a:r>
              <a:rPr lang="es-ES" sz="1300" dirty="0" err="1"/>
              <a:t>Gini</a:t>
            </a:r>
            <a:r>
              <a:rPr lang="es-ES" sz="1300" dirty="0"/>
              <a:t>. En las trayectorias destacadas, China y Corea del Sur muestran un aumento muy pronunciado del índice industrial entre 1970 y el último año disponible, con un coeficiente de </a:t>
            </a:r>
            <a:r>
              <a:rPr lang="es-ES" sz="1300" dirty="0" err="1"/>
              <a:t>Gini</a:t>
            </a:r>
            <a:r>
              <a:rPr lang="es-ES" sz="1300" dirty="0"/>
              <a:t> que se mantiene relativamente bajo y estable a lo largo del período. Argentina y Brasil, en cambio, permanecen con un nivel de industrialización bajo y prácticamente sin variación, mientras su coeficiente de </a:t>
            </a:r>
            <a:r>
              <a:rPr lang="es-ES" sz="1300" dirty="0" err="1"/>
              <a:t>Gini</a:t>
            </a:r>
            <a:r>
              <a:rPr lang="es-ES" sz="1300" dirty="0"/>
              <a:t> desciende de forma marcada entre 1990 y el final del período. Esta lectura visual antecede a la inferencia estadística formal presentada en la </a:t>
            </a:r>
            <a:r>
              <a:rPr lang="es-ES" sz="1300" dirty="0" err="1"/>
              <a:t>slide</a:t>
            </a:r>
            <a:r>
              <a:rPr lang="es-ES" sz="1300" dirty="0"/>
              <a:t> 17.</a:t>
            </a:r>
          </a:p>
        </p:txBody>
      </p:sp>
      <p:pic>
        <p:nvPicPr>
          <p:cNvPr id="1026" name="Picture 2" descr="gráfico_exploratorio.png"/>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1325563"/>
            <a:ext cx="6019800" cy="5532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41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09863" y="274638"/>
            <a:ext cx="10515600" cy="1050925"/>
          </a:xfrm>
        </p:spPr>
        <p:txBody>
          <a:bodyPr>
            <a:normAutofit/>
          </a:bodyPr>
          <a:lstStyle/>
          <a:p>
            <a:pPr algn="ctr"/>
            <a:r>
              <a:rPr lang="es-ES" sz="3000" b="1" dirty="0" smtClean="0">
                <a:solidFill>
                  <a:srgbClr val="1A1A1A"/>
                </a:solidFill>
                <a:latin typeface="Cambria" panose="02040503050406030204" pitchFamily="18" charset="0"/>
                <a:cs typeface="Cambria" panose="02040503050406030204" pitchFamily="18" charset="0"/>
              </a:rPr>
              <a:t>Regresión por mínimos cuadrados ordinarios (hipótesis complementaria)</a:t>
            </a:r>
            <a:endParaRPr lang="es-ES" sz="3000" b="1" dirty="0">
              <a:solidFill>
                <a:srgbClr val="1A1A1A"/>
              </a:solidFill>
              <a:latin typeface="Cambria" panose="02040503050406030204" pitchFamily="18" charset="0"/>
              <a:cs typeface="Cambria" panose="02040503050406030204" pitchFamily="18" charset="0"/>
            </a:endParaRPr>
          </a:p>
        </p:txBody>
      </p:sp>
      <p:graphicFrame>
        <p:nvGraphicFramePr>
          <p:cNvPr id="5" name="Marcador de contenido 4"/>
          <p:cNvGraphicFramePr>
            <a:graphicFrameLocks noGrp="1"/>
          </p:cNvGraphicFramePr>
          <p:nvPr>
            <p:ph sz="half" idx="1"/>
            <p:extLst>
              <p:ext uri="{D42A27DB-BD31-4B8C-83A1-F6EECF244321}">
                <p14:modId xmlns:p14="http://schemas.microsoft.com/office/powerpoint/2010/main" val="3330115103"/>
              </p:ext>
            </p:extLst>
          </p:nvPr>
        </p:nvGraphicFramePr>
        <p:xfrm>
          <a:off x="876300" y="3356888"/>
          <a:ext cx="5181600" cy="2054090"/>
        </p:xfrm>
        <a:graphic>
          <a:graphicData uri="http://schemas.openxmlformats.org/drawingml/2006/table">
            <a:tbl>
              <a:tblPr firstRow="1" bandRow="1">
                <a:tableStyleId>{073A0DAA-6AF3-43AB-8588-CEC1D06C72B9}</a:tableStyleId>
              </a:tblPr>
              <a:tblGrid>
                <a:gridCol w="2590800">
                  <a:extLst>
                    <a:ext uri="{9D8B030D-6E8A-4147-A177-3AD203B41FA5}">
                      <a16:colId xmlns:a16="http://schemas.microsoft.com/office/drawing/2014/main" val="1003331850"/>
                    </a:ext>
                  </a:extLst>
                </a:gridCol>
                <a:gridCol w="2590800">
                  <a:extLst>
                    <a:ext uri="{9D8B030D-6E8A-4147-A177-3AD203B41FA5}">
                      <a16:colId xmlns:a16="http://schemas.microsoft.com/office/drawing/2014/main" val="2844195574"/>
                    </a:ext>
                  </a:extLst>
                </a:gridCol>
              </a:tblGrid>
              <a:tr h="180230">
                <a:tc>
                  <a:txBody>
                    <a:bodyPr/>
                    <a:lstStyle/>
                    <a:p>
                      <a:r>
                        <a:rPr lang="en-US" sz="1200" dirty="0" err="1">
                          <a:latin typeface="Calibri" panose="020F0502020204030204" pitchFamily="34" charset="0"/>
                          <a:cs typeface="Calibri" panose="020F0502020204030204" pitchFamily="34" charset="0"/>
                        </a:rPr>
                        <a:t>Supuesto</a:t>
                      </a:r>
                      <a:endParaRPr lang="en-US" sz="1200" dirty="0">
                        <a:latin typeface="Calibri" panose="020F0502020204030204" pitchFamily="34" charset="0"/>
                        <a:cs typeface="Calibri" panose="020F0502020204030204" pitchFamily="34" charset="0"/>
                      </a:endParaRPr>
                    </a:p>
                  </a:txBody>
                  <a:tcPr marL="45057" marR="45057" marT="22529" marB="22529" anchor="ctr"/>
                </a:tc>
                <a:tc>
                  <a:txBody>
                    <a:bodyPr/>
                    <a:lstStyle/>
                    <a:p>
                      <a:r>
                        <a:rPr lang="en-US" sz="1200" dirty="0" err="1">
                          <a:latin typeface="Calibri" panose="020F0502020204030204" pitchFamily="34" charset="0"/>
                          <a:cs typeface="Calibri" panose="020F0502020204030204" pitchFamily="34" charset="0"/>
                        </a:rPr>
                        <a:t>Resultado</a:t>
                      </a:r>
                      <a:endParaRPr lang="en-US" sz="1200" dirty="0">
                        <a:latin typeface="Calibri" panose="020F0502020204030204" pitchFamily="34" charset="0"/>
                        <a:cs typeface="Calibri" panose="020F0502020204030204" pitchFamily="34" charset="0"/>
                      </a:endParaRPr>
                    </a:p>
                  </a:txBody>
                  <a:tcPr marL="45057" marR="45057" marT="22529" marB="22529" anchor="ctr"/>
                </a:tc>
                <a:extLst>
                  <a:ext uri="{0D108BD9-81ED-4DB2-BD59-A6C34878D82A}">
                    <a16:rowId xmlns:a16="http://schemas.microsoft.com/office/drawing/2014/main" val="1994630964"/>
                  </a:ext>
                </a:extLst>
              </a:tr>
              <a:tr h="180230">
                <a:tc>
                  <a:txBody>
                    <a:bodyPr/>
                    <a:lstStyle/>
                    <a:p>
                      <a:r>
                        <a:rPr lang="en-US" sz="1200">
                          <a:latin typeface="Calibri" panose="020F0502020204030204" pitchFamily="34" charset="0"/>
                          <a:cs typeface="Calibri" panose="020F0502020204030204" pitchFamily="34" charset="0"/>
                        </a:rPr>
                        <a:t>Linealidad</a:t>
                      </a:r>
                    </a:p>
                  </a:txBody>
                  <a:tcPr marL="45057" marR="45057" marT="22529" marB="22529" anchor="ctr"/>
                </a:tc>
                <a:tc>
                  <a:txBody>
                    <a:bodyPr/>
                    <a:lstStyle/>
                    <a:p>
                      <a:r>
                        <a:rPr lang="en-US" sz="1200" dirty="0">
                          <a:latin typeface="Calibri" panose="020F0502020204030204" pitchFamily="34" charset="0"/>
                          <a:cs typeface="Calibri" panose="020F0502020204030204" pitchFamily="34" charset="0"/>
                        </a:rPr>
                        <a:t>A </a:t>
                      </a:r>
                      <a:r>
                        <a:rPr lang="en-US" sz="1200" dirty="0" err="1">
                          <a:latin typeface="Calibri" panose="020F0502020204030204" pitchFamily="34" charset="0"/>
                          <a:cs typeface="Calibri" panose="020F0502020204030204" pitchFamily="34" charset="0"/>
                        </a:rPr>
                        <a:t>evaluar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visualmente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ver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gráfico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exploratorio</a:t>
                      </a:r>
                      <a:r>
                        <a:rPr lang="en-US" sz="1200" dirty="0">
                          <a:latin typeface="Calibri" panose="020F0502020204030204" pitchFamily="34" charset="0"/>
                          <a:cs typeface="Calibri" panose="020F0502020204030204" pitchFamily="34" charset="0"/>
                        </a:rPr>
                        <a:t>)</a:t>
                      </a:r>
                    </a:p>
                  </a:txBody>
                  <a:tcPr marL="45057" marR="45057" marT="22529" marB="22529" anchor="ctr"/>
                </a:tc>
                <a:extLst>
                  <a:ext uri="{0D108BD9-81ED-4DB2-BD59-A6C34878D82A}">
                    <a16:rowId xmlns:a16="http://schemas.microsoft.com/office/drawing/2014/main" val="1136475575"/>
                  </a:ext>
                </a:extLst>
              </a:tr>
              <a:tr h="180230">
                <a:tc>
                  <a:txBody>
                    <a:bodyPr/>
                    <a:lstStyle/>
                    <a:p>
                      <a:r>
                        <a:rPr lang="en-US" sz="1200">
                          <a:latin typeface="Calibri" panose="020F0502020204030204" pitchFamily="34" charset="0"/>
                          <a:cs typeface="Calibri" panose="020F0502020204030204" pitchFamily="34" charset="0"/>
                        </a:rPr>
                        <a:t>Homocedasticidad</a:t>
                      </a:r>
                    </a:p>
                  </a:txBody>
                  <a:tcPr marL="45057" marR="45057" marT="22529" marB="22529" anchor="ctr"/>
                </a:tc>
                <a:tc>
                  <a:txBody>
                    <a:bodyPr/>
                    <a:lstStyle/>
                    <a:p>
                      <a:r>
                        <a:rPr lang="en-US" sz="1200" dirty="0" err="1">
                          <a:latin typeface="Calibri" panose="020F0502020204030204" pitchFamily="34" charset="0"/>
                          <a:cs typeface="Calibri" panose="020F0502020204030204" pitchFamily="34" charset="0"/>
                        </a:rPr>
                        <a:t>Ver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gráfico</a:t>
                      </a:r>
                      <a:r>
                        <a:rPr lang="en-US" sz="1200" dirty="0">
                          <a:latin typeface="Calibri" panose="020F0502020204030204" pitchFamily="34" charset="0"/>
                          <a:cs typeface="Calibri" panose="020F0502020204030204" pitchFamily="34" charset="0"/>
                        </a:rPr>
                        <a:t> de </a:t>
                      </a:r>
                      <a:r>
                        <a:rPr lang="en-US" sz="1200" dirty="0" err="1">
                          <a:latin typeface="Calibri" panose="020F0502020204030204" pitchFamily="34" charset="0"/>
                          <a:cs typeface="Calibri" panose="020F0502020204030204" pitchFamily="34" charset="0"/>
                        </a:rPr>
                        <a:t>residuos</a:t>
                      </a:r>
                      <a:r>
                        <a:rPr lang="en-US" sz="1200" dirty="0">
                          <a:latin typeface="Calibri" panose="020F0502020204030204" pitchFamily="34" charset="0"/>
                          <a:cs typeface="Calibri" panose="020F0502020204030204" pitchFamily="34" charset="0"/>
                        </a:rPr>
                        <a:t> </a:t>
                      </a:r>
                      <a:r>
                        <a:rPr lang="en-US" sz="1200" dirty="0" smtClean="0">
                          <a:latin typeface="Calibri" panose="020F0502020204030204" pitchFamily="34" charset="0"/>
                          <a:cs typeface="Calibri" panose="020F0502020204030204" pitchFamily="34" charset="0"/>
                        </a:rPr>
                        <a:t>vs </a:t>
                      </a:r>
                      <a:r>
                        <a:rPr lang="en-US" sz="1200" dirty="0" err="1">
                          <a:latin typeface="Calibri" panose="020F0502020204030204" pitchFamily="34" charset="0"/>
                          <a:cs typeface="Calibri" panose="020F0502020204030204" pitchFamily="34" charset="0"/>
                        </a:rPr>
                        <a:t>valores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ajustados</a:t>
                      </a:r>
                      <a:endParaRPr lang="en-US" sz="1200" dirty="0">
                        <a:latin typeface="Calibri" panose="020F0502020204030204" pitchFamily="34" charset="0"/>
                        <a:cs typeface="Calibri" panose="020F0502020204030204" pitchFamily="34" charset="0"/>
                      </a:endParaRPr>
                    </a:p>
                  </a:txBody>
                  <a:tcPr marL="45057" marR="45057" marT="22529" marB="22529" anchor="ctr"/>
                </a:tc>
                <a:extLst>
                  <a:ext uri="{0D108BD9-81ED-4DB2-BD59-A6C34878D82A}">
                    <a16:rowId xmlns:a16="http://schemas.microsoft.com/office/drawing/2014/main" val="3656424360"/>
                  </a:ext>
                </a:extLst>
              </a:tr>
              <a:tr h="180230">
                <a:tc>
                  <a:txBody>
                    <a:bodyPr/>
                    <a:lstStyle/>
                    <a:p>
                      <a:r>
                        <a:rPr lang="en-US" sz="1200">
                          <a:latin typeface="Calibri" panose="020F0502020204030204" pitchFamily="34" charset="0"/>
                          <a:cs typeface="Calibri" panose="020F0502020204030204" pitchFamily="34" charset="0"/>
                        </a:rPr>
                        <a:t>Independencia entre países</a:t>
                      </a:r>
                    </a:p>
                  </a:txBody>
                  <a:tcPr marL="45057" marR="45057" marT="22529" marB="22529" anchor="ctr"/>
                </a:tc>
                <a:tc>
                  <a:txBody>
                    <a:bodyPr/>
                    <a:lstStyle/>
                    <a:p>
                      <a:r>
                        <a:rPr lang="en-US" sz="1200" dirty="0">
                          <a:latin typeface="Calibri" panose="020F0502020204030204" pitchFamily="34" charset="0"/>
                          <a:cs typeface="Calibri" panose="020F0502020204030204" pitchFamily="34" charset="0"/>
                        </a:rPr>
                        <a:t>Se viola </a:t>
                      </a:r>
                      <a:r>
                        <a:rPr lang="en-US" sz="1200" dirty="0" err="1" smtClean="0">
                          <a:latin typeface="Calibri" panose="020F0502020204030204" pitchFamily="34" charset="0"/>
                          <a:cs typeface="Calibri" panose="020F0502020204030204" pitchFamily="34" charset="0"/>
                        </a:rPr>
                        <a:t>parcialmente</a:t>
                      </a:r>
                      <a:r>
                        <a:rPr lang="en-US" sz="1200" baseline="0" dirty="0" smtClean="0">
                          <a:latin typeface="Calibri" panose="020F0502020204030204" pitchFamily="34" charset="0"/>
                          <a:cs typeface="Calibri" panose="020F0502020204030204" pitchFamily="34" charset="0"/>
                        </a:rPr>
                        <a:t> </a:t>
                      </a:r>
                      <a:r>
                        <a:rPr lang="en-US" sz="1200" dirty="0" smtClean="0">
                          <a:latin typeface="Calibri" panose="020F0502020204030204" pitchFamily="34" charset="0"/>
                          <a:cs typeface="Calibri" panose="020F0502020204030204" pitchFamily="34" charset="0"/>
                        </a:rPr>
                        <a:t>4 </a:t>
                      </a:r>
                      <a:r>
                        <a:rPr lang="en-US" sz="1200" dirty="0" err="1">
                          <a:latin typeface="Calibri" panose="020F0502020204030204" pitchFamily="34" charset="0"/>
                          <a:cs typeface="Calibri" panose="020F0502020204030204" pitchFamily="34" charset="0"/>
                        </a:rPr>
                        <a:t>observaciones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por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país</a:t>
                      </a:r>
                      <a:endParaRPr lang="en-US" sz="1200" dirty="0">
                        <a:latin typeface="Calibri" panose="020F0502020204030204" pitchFamily="34" charset="0"/>
                        <a:cs typeface="Calibri" panose="020F0502020204030204" pitchFamily="34" charset="0"/>
                      </a:endParaRPr>
                    </a:p>
                  </a:txBody>
                  <a:tcPr marL="45057" marR="45057" marT="22529" marB="22529" anchor="ctr"/>
                </a:tc>
                <a:extLst>
                  <a:ext uri="{0D108BD9-81ED-4DB2-BD59-A6C34878D82A}">
                    <a16:rowId xmlns:a16="http://schemas.microsoft.com/office/drawing/2014/main" val="3691568952"/>
                  </a:ext>
                </a:extLst>
              </a:tr>
              <a:tr h="315402">
                <a:tc>
                  <a:txBody>
                    <a:bodyPr/>
                    <a:lstStyle/>
                    <a:p>
                      <a:r>
                        <a:rPr lang="en-US" sz="1200" dirty="0" err="1">
                          <a:latin typeface="Calibri" panose="020F0502020204030204" pitchFamily="34" charset="0"/>
                          <a:cs typeface="Calibri" panose="020F0502020204030204" pitchFamily="34" charset="0"/>
                        </a:rPr>
                        <a:t>Independencia</a:t>
                      </a:r>
                      <a:r>
                        <a:rPr lang="en-US" sz="1200" dirty="0">
                          <a:latin typeface="Calibri" panose="020F0502020204030204" pitchFamily="34" charset="0"/>
                          <a:cs typeface="Calibri" panose="020F0502020204030204" pitchFamily="34" charset="0"/>
                        </a:rPr>
                        <a:t> temporal </a:t>
                      </a:r>
                      <a:r>
                        <a:rPr lang="en-US" sz="1200" dirty="0" err="1">
                          <a:latin typeface="Calibri" panose="020F0502020204030204" pitchFamily="34" charset="0"/>
                          <a:cs typeface="Calibri" panose="020F0502020204030204" pitchFamily="34" charset="0"/>
                        </a:rPr>
                        <a:t>dentro</a:t>
                      </a:r>
                      <a:r>
                        <a:rPr lang="en-US" sz="1200" dirty="0">
                          <a:latin typeface="Calibri" panose="020F0502020204030204" pitchFamily="34" charset="0"/>
                          <a:cs typeface="Calibri" panose="020F0502020204030204" pitchFamily="34" charset="0"/>
                        </a:rPr>
                        <a:t> de </a:t>
                      </a:r>
                      <a:r>
                        <a:rPr lang="en-US" sz="1200" dirty="0" err="1">
                          <a:latin typeface="Calibri" panose="020F0502020204030204" pitchFamily="34" charset="0"/>
                          <a:cs typeface="Calibri" panose="020F0502020204030204" pitchFamily="34" charset="0"/>
                        </a:rPr>
                        <a:t>cada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país</a:t>
                      </a:r>
                      <a:endParaRPr lang="en-US" sz="1200" dirty="0">
                        <a:latin typeface="Calibri" panose="020F0502020204030204" pitchFamily="34" charset="0"/>
                        <a:cs typeface="Calibri" panose="020F0502020204030204" pitchFamily="34" charset="0"/>
                      </a:endParaRPr>
                    </a:p>
                  </a:txBody>
                  <a:tcPr marL="45057" marR="45057" marT="22529" marB="22529" anchor="ctr"/>
                </a:tc>
                <a:tc>
                  <a:txBody>
                    <a:bodyPr/>
                    <a:lstStyle/>
                    <a:p>
                      <a:r>
                        <a:rPr lang="es-ES" sz="1200" dirty="0">
                          <a:latin typeface="Calibri" panose="020F0502020204030204" pitchFamily="34" charset="0"/>
                          <a:cs typeface="Calibri" panose="020F0502020204030204" pitchFamily="34" charset="0"/>
                        </a:rPr>
                        <a:t>Se viola en un </a:t>
                      </a:r>
                      <a:r>
                        <a:rPr lang="es-ES" sz="1200" dirty="0" smtClean="0">
                          <a:latin typeface="Calibri" panose="020F0502020204030204" pitchFamily="34" charset="0"/>
                          <a:cs typeface="Calibri" panose="020F0502020204030204" pitchFamily="34" charset="0"/>
                        </a:rPr>
                        <a:t>caso</a:t>
                      </a:r>
                      <a:r>
                        <a:rPr lang="es-ES" sz="1200" baseline="0" dirty="0" smtClean="0">
                          <a:latin typeface="Calibri" panose="020F0502020204030204" pitchFamily="34" charset="0"/>
                          <a:cs typeface="Calibri" panose="020F0502020204030204" pitchFamily="34" charset="0"/>
                        </a:rPr>
                        <a:t>,</a:t>
                      </a:r>
                      <a:r>
                        <a:rPr lang="es-ES" sz="1200" dirty="0" smtClean="0">
                          <a:latin typeface="Calibri" panose="020F0502020204030204" pitchFamily="34" charset="0"/>
                          <a:cs typeface="Calibri" panose="020F0502020204030204" pitchFamily="34" charset="0"/>
                        </a:rPr>
                        <a:t> </a:t>
                      </a:r>
                      <a:r>
                        <a:rPr lang="es-ES" sz="1200" dirty="0">
                          <a:latin typeface="Calibri" panose="020F0502020204030204" pitchFamily="34" charset="0"/>
                          <a:cs typeface="Calibri" panose="020F0502020204030204" pitchFamily="34" charset="0"/>
                        </a:rPr>
                        <a:t>2 de los 4 puntos de Corea del Sur provienen del mismo año real (ver </a:t>
                      </a:r>
                      <a:r>
                        <a:rPr lang="es-ES" sz="1200" dirty="0" err="1">
                          <a:latin typeface="Calibri" panose="020F0502020204030204" pitchFamily="34" charset="0"/>
                          <a:cs typeface="Calibri" panose="020F0502020204030204" pitchFamily="34" charset="0"/>
                        </a:rPr>
                        <a:t>slide</a:t>
                      </a:r>
                      <a:r>
                        <a:rPr lang="es-ES" sz="1200" dirty="0">
                          <a:latin typeface="Calibri" panose="020F0502020204030204" pitchFamily="34" charset="0"/>
                          <a:cs typeface="Calibri" panose="020F0502020204030204" pitchFamily="34" charset="0"/>
                        </a:rPr>
                        <a:t> 16)</a:t>
                      </a:r>
                    </a:p>
                  </a:txBody>
                  <a:tcPr marL="45057" marR="45057" marT="22529" marB="22529" anchor="ctr"/>
                </a:tc>
                <a:extLst>
                  <a:ext uri="{0D108BD9-81ED-4DB2-BD59-A6C34878D82A}">
                    <a16:rowId xmlns:a16="http://schemas.microsoft.com/office/drawing/2014/main" val="1704271864"/>
                  </a:ext>
                </a:extLst>
              </a:tr>
            </a:tbl>
          </a:graphicData>
        </a:graphic>
      </p:graphicFrame>
      <p:graphicFrame>
        <p:nvGraphicFramePr>
          <p:cNvPr id="6" name="Marcador de contenido 5"/>
          <p:cNvGraphicFramePr>
            <a:graphicFrameLocks noGrp="1"/>
          </p:cNvGraphicFramePr>
          <p:nvPr>
            <p:ph sz="half" idx="2"/>
            <p:extLst>
              <p:ext uri="{D42A27DB-BD31-4B8C-83A1-F6EECF244321}">
                <p14:modId xmlns:p14="http://schemas.microsoft.com/office/powerpoint/2010/main" val="1891931086"/>
              </p:ext>
            </p:extLst>
          </p:nvPr>
        </p:nvGraphicFramePr>
        <p:xfrm>
          <a:off x="6134100" y="1801744"/>
          <a:ext cx="5181600" cy="2034079"/>
        </p:xfrm>
        <a:graphic>
          <a:graphicData uri="http://schemas.openxmlformats.org/drawingml/2006/table">
            <a:tbl>
              <a:tblPr firstRow="1" bandRow="1">
                <a:tableStyleId>{073A0DAA-6AF3-43AB-8588-CEC1D06C72B9}</a:tableStyleId>
              </a:tblPr>
              <a:tblGrid>
                <a:gridCol w="2590800">
                  <a:extLst>
                    <a:ext uri="{9D8B030D-6E8A-4147-A177-3AD203B41FA5}">
                      <a16:colId xmlns:a16="http://schemas.microsoft.com/office/drawing/2014/main" val="368151982"/>
                    </a:ext>
                  </a:extLst>
                </a:gridCol>
                <a:gridCol w="2590800">
                  <a:extLst>
                    <a:ext uri="{9D8B030D-6E8A-4147-A177-3AD203B41FA5}">
                      <a16:colId xmlns:a16="http://schemas.microsoft.com/office/drawing/2014/main" val="2151314868"/>
                    </a:ext>
                  </a:extLst>
                </a:gridCol>
              </a:tblGrid>
              <a:tr h="303564">
                <a:tc>
                  <a:txBody>
                    <a:bodyPr/>
                    <a:lstStyle/>
                    <a:p>
                      <a:r>
                        <a:rPr lang="en-US" sz="1200" strike="noStrike" dirty="0" err="1">
                          <a:latin typeface="Calibri" panose="020F0502020204030204" pitchFamily="34" charset="0"/>
                          <a:cs typeface="Calibri" panose="020F0502020204030204" pitchFamily="34" charset="0"/>
                        </a:rPr>
                        <a:t>Indicador</a:t>
                      </a:r>
                      <a:endParaRPr lang="en-US" sz="1200" strike="noStrike" dirty="0">
                        <a:latin typeface="Calibri" panose="020F0502020204030204" pitchFamily="34" charset="0"/>
                        <a:cs typeface="Calibri" panose="020F0502020204030204" pitchFamily="34" charset="0"/>
                      </a:endParaRPr>
                    </a:p>
                  </a:txBody>
                  <a:tcPr marL="45057" marR="45057" marT="22529" marB="22529" anchor="ctr"/>
                </a:tc>
                <a:tc>
                  <a:txBody>
                    <a:bodyPr/>
                    <a:lstStyle/>
                    <a:p>
                      <a:r>
                        <a:rPr lang="en-US" sz="1200" strike="noStrike">
                          <a:latin typeface="Calibri" panose="020F0502020204030204" pitchFamily="34" charset="0"/>
                          <a:cs typeface="Calibri" panose="020F0502020204030204" pitchFamily="34" charset="0"/>
                        </a:rPr>
                        <a:t>Valor</a:t>
                      </a:r>
                    </a:p>
                  </a:txBody>
                  <a:tcPr marL="45057" marR="45057" marT="22529" marB="22529" anchor="ctr"/>
                </a:tc>
                <a:extLst>
                  <a:ext uri="{0D108BD9-81ED-4DB2-BD59-A6C34878D82A}">
                    <a16:rowId xmlns:a16="http://schemas.microsoft.com/office/drawing/2014/main" val="2357745592"/>
                  </a:ext>
                </a:extLst>
              </a:tr>
              <a:tr h="346103">
                <a:tc>
                  <a:txBody>
                    <a:bodyPr/>
                    <a:lstStyle/>
                    <a:p>
                      <a:r>
                        <a:rPr lang="en-US" sz="1200" strike="noStrike">
                          <a:latin typeface="Calibri" panose="020F0502020204030204" pitchFamily="34" charset="0"/>
                          <a:cs typeface="Calibri" panose="020F0502020204030204" pitchFamily="34" charset="0"/>
                        </a:rPr>
                        <a:t>Coeficiente (índice industrial)</a:t>
                      </a:r>
                    </a:p>
                  </a:txBody>
                  <a:tcPr marL="45057" marR="45057" marT="22529" marB="22529" anchor="ctr"/>
                </a:tc>
                <a:tc>
                  <a:txBody>
                    <a:bodyPr/>
                    <a:lstStyle/>
                    <a:p>
                      <a:r>
                        <a:rPr lang="en-US" sz="1200" strike="noStrike">
                          <a:latin typeface="Calibri" panose="020F0502020204030204" pitchFamily="34" charset="0"/>
                          <a:cs typeface="Calibri" panose="020F0502020204030204" pitchFamily="34" charset="0"/>
                        </a:rPr>
                        <a:t>-0,00128</a:t>
                      </a:r>
                    </a:p>
                  </a:txBody>
                  <a:tcPr marL="45057" marR="45057" marT="22529" marB="22529" anchor="ctr"/>
                </a:tc>
                <a:extLst>
                  <a:ext uri="{0D108BD9-81ED-4DB2-BD59-A6C34878D82A}">
                    <a16:rowId xmlns:a16="http://schemas.microsoft.com/office/drawing/2014/main" val="3351094825"/>
                  </a:ext>
                </a:extLst>
              </a:tr>
              <a:tr h="346103">
                <a:tc>
                  <a:txBody>
                    <a:bodyPr/>
                    <a:lstStyle/>
                    <a:p>
                      <a:r>
                        <a:rPr lang="en-US" sz="1200" strike="noStrike">
                          <a:latin typeface="Calibri" panose="020F0502020204030204" pitchFamily="34" charset="0"/>
                          <a:cs typeface="Calibri" panose="020F0502020204030204" pitchFamily="34" charset="0"/>
                        </a:rPr>
                        <a:t>IC 95% del coeficiente</a:t>
                      </a:r>
                    </a:p>
                  </a:txBody>
                  <a:tcPr marL="45057" marR="45057" marT="22529" marB="22529" anchor="ctr"/>
                </a:tc>
                <a:tc>
                  <a:txBody>
                    <a:bodyPr/>
                    <a:lstStyle/>
                    <a:p>
                      <a:r>
                        <a:rPr lang="en-US" sz="1200" strike="noStrike">
                          <a:latin typeface="Calibri" panose="020F0502020204030204" pitchFamily="34" charset="0"/>
                          <a:cs typeface="Calibri" panose="020F0502020204030204" pitchFamily="34" charset="0"/>
                        </a:rPr>
                        <a:t>[-0,00268 ; 0,00011]</a:t>
                      </a:r>
                    </a:p>
                  </a:txBody>
                  <a:tcPr marL="45057" marR="45057" marT="22529" marB="22529" anchor="ctr"/>
                </a:tc>
                <a:extLst>
                  <a:ext uri="{0D108BD9-81ED-4DB2-BD59-A6C34878D82A}">
                    <a16:rowId xmlns:a16="http://schemas.microsoft.com/office/drawing/2014/main" val="1580761082"/>
                  </a:ext>
                </a:extLst>
              </a:tr>
              <a:tr h="346103">
                <a:tc>
                  <a:txBody>
                    <a:bodyPr/>
                    <a:lstStyle/>
                    <a:p>
                      <a:r>
                        <a:rPr lang="en-US" sz="1200" strike="noStrike">
                          <a:latin typeface="Calibri" panose="020F0502020204030204" pitchFamily="34" charset="0"/>
                          <a:cs typeface="Calibri" panose="020F0502020204030204" pitchFamily="34" charset="0"/>
                        </a:rPr>
                        <a:t>R²</a:t>
                      </a:r>
                    </a:p>
                  </a:txBody>
                  <a:tcPr marL="45057" marR="45057" marT="22529" marB="22529" anchor="ctr"/>
                </a:tc>
                <a:tc>
                  <a:txBody>
                    <a:bodyPr/>
                    <a:lstStyle/>
                    <a:p>
                      <a:r>
                        <a:rPr lang="en-US" sz="1200" strike="noStrike">
                          <a:latin typeface="Calibri" panose="020F0502020204030204" pitchFamily="34" charset="0"/>
                          <a:cs typeface="Calibri" panose="020F0502020204030204" pitchFamily="34" charset="0"/>
                        </a:rPr>
                        <a:t>0,055</a:t>
                      </a:r>
                    </a:p>
                  </a:txBody>
                  <a:tcPr marL="45057" marR="45057" marT="22529" marB="22529" anchor="ctr"/>
                </a:tc>
                <a:extLst>
                  <a:ext uri="{0D108BD9-81ED-4DB2-BD59-A6C34878D82A}">
                    <a16:rowId xmlns:a16="http://schemas.microsoft.com/office/drawing/2014/main" val="1223169271"/>
                  </a:ext>
                </a:extLst>
              </a:tr>
              <a:tr h="346103">
                <a:tc>
                  <a:txBody>
                    <a:bodyPr/>
                    <a:lstStyle/>
                    <a:p>
                      <a:r>
                        <a:rPr lang="en-US" sz="1200" strike="noStrike" dirty="0">
                          <a:latin typeface="Calibri" panose="020F0502020204030204" pitchFamily="34" charset="0"/>
                          <a:cs typeface="Calibri" panose="020F0502020204030204" pitchFamily="34" charset="0"/>
                        </a:rPr>
                        <a:t>R² </a:t>
                      </a:r>
                      <a:r>
                        <a:rPr lang="en-US" sz="1200" strike="noStrike" dirty="0" err="1">
                          <a:latin typeface="Calibri" panose="020F0502020204030204" pitchFamily="34" charset="0"/>
                          <a:cs typeface="Calibri" panose="020F0502020204030204" pitchFamily="34" charset="0"/>
                        </a:rPr>
                        <a:t>ajustado</a:t>
                      </a:r>
                      <a:endParaRPr lang="en-US" sz="1200" strike="noStrike" dirty="0">
                        <a:latin typeface="Calibri" panose="020F0502020204030204" pitchFamily="34" charset="0"/>
                        <a:cs typeface="Calibri" panose="020F0502020204030204" pitchFamily="34" charset="0"/>
                      </a:endParaRPr>
                    </a:p>
                  </a:txBody>
                  <a:tcPr marL="45057" marR="45057" marT="22529" marB="22529" anchor="ctr"/>
                </a:tc>
                <a:tc>
                  <a:txBody>
                    <a:bodyPr/>
                    <a:lstStyle/>
                    <a:p>
                      <a:r>
                        <a:rPr lang="en-US" sz="1200" strike="noStrike">
                          <a:latin typeface="Calibri" panose="020F0502020204030204" pitchFamily="34" charset="0"/>
                          <a:cs typeface="Calibri" panose="020F0502020204030204" pitchFamily="34" charset="0"/>
                        </a:rPr>
                        <a:t>0,039</a:t>
                      </a:r>
                    </a:p>
                  </a:txBody>
                  <a:tcPr marL="45057" marR="45057" marT="22529" marB="22529" anchor="ctr"/>
                </a:tc>
                <a:extLst>
                  <a:ext uri="{0D108BD9-81ED-4DB2-BD59-A6C34878D82A}">
                    <a16:rowId xmlns:a16="http://schemas.microsoft.com/office/drawing/2014/main" val="1518611532"/>
                  </a:ext>
                </a:extLst>
              </a:tr>
              <a:tr h="346103">
                <a:tc>
                  <a:txBody>
                    <a:bodyPr/>
                    <a:lstStyle/>
                    <a:p>
                      <a:r>
                        <a:rPr lang="en-US" sz="1200" strike="noStrike" dirty="0">
                          <a:latin typeface="Calibri" panose="020F0502020204030204" pitchFamily="34" charset="0"/>
                          <a:cs typeface="Calibri" panose="020F0502020204030204" pitchFamily="34" charset="0"/>
                        </a:rPr>
                        <a:t>Valor p</a:t>
                      </a:r>
                    </a:p>
                  </a:txBody>
                  <a:tcPr marL="45057" marR="45057" marT="22529" marB="22529" anchor="ctr"/>
                </a:tc>
                <a:tc>
                  <a:txBody>
                    <a:bodyPr/>
                    <a:lstStyle/>
                    <a:p>
                      <a:r>
                        <a:rPr lang="en-US" sz="1200" strike="noStrike" dirty="0">
                          <a:latin typeface="Calibri" panose="020F0502020204030204" pitchFamily="34" charset="0"/>
                          <a:cs typeface="Calibri" panose="020F0502020204030204" pitchFamily="34" charset="0"/>
                        </a:rPr>
                        <a:t>0,070</a:t>
                      </a:r>
                    </a:p>
                  </a:txBody>
                  <a:tcPr marL="45057" marR="45057" marT="22529" marB="22529" anchor="ctr"/>
                </a:tc>
                <a:extLst>
                  <a:ext uri="{0D108BD9-81ED-4DB2-BD59-A6C34878D82A}">
                    <a16:rowId xmlns:a16="http://schemas.microsoft.com/office/drawing/2014/main" val="3207191289"/>
                  </a:ext>
                </a:extLst>
              </a:tr>
            </a:tbl>
          </a:graphicData>
        </a:graphic>
      </p:graphicFrame>
      <p:sp>
        <p:nvSpPr>
          <p:cNvPr id="7" name="CuadroTexto 6"/>
          <p:cNvSpPr txBox="1"/>
          <p:nvPr/>
        </p:nvSpPr>
        <p:spPr>
          <a:xfrm>
            <a:off x="838200" y="1325563"/>
            <a:ext cx="5257800" cy="2031325"/>
          </a:xfrm>
          <a:prstGeom prst="rect">
            <a:avLst/>
          </a:prstGeom>
          <a:noFill/>
        </p:spPr>
        <p:txBody>
          <a:bodyPr wrap="square" rtlCol="0">
            <a:spAutoFit/>
          </a:bodyPr>
          <a:lstStyle/>
          <a:p>
            <a:r>
              <a:rPr lang="es-ES" dirty="0" smtClean="0">
                <a:latin typeface="Calibri" panose="020F0502020204030204" pitchFamily="34" charset="0"/>
                <a:cs typeface="Calibri" panose="020F0502020204030204" pitchFamily="34" charset="0"/>
              </a:rPr>
              <a:t>Se utiliza una regresión lineal simple, en lugar de un ANOVA o un test de Chi-cuadrado, dado que la variable independiente (índice de PBI industrial per cápita) es continua, no categórica. Esto permite aprovechar la variabilidad completa de las observaciones en vez de reducirla a una comparación entre grupos</a:t>
            </a:r>
            <a:endParaRPr lang="es-ES" dirty="0">
              <a:latin typeface="Calibri" panose="020F0502020204030204" pitchFamily="34" charset="0"/>
              <a:cs typeface="Calibri" panose="020F0502020204030204" pitchFamily="34" charset="0"/>
            </a:endParaRPr>
          </a:p>
        </p:txBody>
      </p:sp>
      <p:sp>
        <p:nvSpPr>
          <p:cNvPr id="8" name="CuadroTexto 7"/>
          <p:cNvSpPr txBox="1"/>
          <p:nvPr/>
        </p:nvSpPr>
        <p:spPr>
          <a:xfrm>
            <a:off x="838200" y="5599521"/>
            <a:ext cx="5257800" cy="923330"/>
          </a:xfrm>
          <a:prstGeom prst="rect">
            <a:avLst/>
          </a:prstGeom>
          <a:noFill/>
        </p:spPr>
        <p:txBody>
          <a:bodyPr wrap="square" rtlCol="0">
            <a:spAutoFit/>
          </a:bodyPr>
          <a:lstStyle/>
          <a:p>
            <a:r>
              <a:rPr lang="es-ES" dirty="0">
                <a:latin typeface="Calibri" panose="020F0502020204030204" pitchFamily="34" charset="0"/>
                <a:cs typeface="Calibri" panose="020F0502020204030204" pitchFamily="34" charset="0"/>
              </a:rPr>
              <a:t>L</a:t>
            </a:r>
            <a:r>
              <a:rPr lang="es-ES" dirty="0" smtClean="0">
                <a:latin typeface="Calibri" panose="020F0502020204030204" pitchFamily="34" charset="0"/>
                <a:cs typeface="Calibri" panose="020F0502020204030204" pitchFamily="34" charset="0"/>
              </a:rPr>
              <a:t>a combinación de ambos incumplimientos reduce la variabilidad efectiva que el modelo puede explotar, y es consistente con el bajo R² obtenido.</a:t>
            </a:r>
            <a:endParaRPr lang="es-ES" dirty="0">
              <a:latin typeface="Calibri" panose="020F0502020204030204" pitchFamily="34" charset="0"/>
              <a:cs typeface="Calibri" panose="020F0502020204030204" pitchFamily="34" charset="0"/>
            </a:endParaRPr>
          </a:p>
        </p:txBody>
      </p:sp>
      <p:sp>
        <p:nvSpPr>
          <p:cNvPr id="9" name="CuadroTexto 8"/>
          <p:cNvSpPr txBox="1"/>
          <p:nvPr/>
        </p:nvSpPr>
        <p:spPr>
          <a:xfrm>
            <a:off x="6134100" y="3835823"/>
            <a:ext cx="5037221" cy="2585323"/>
          </a:xfrm>
          <a:prstGeom prst="rect">
            <a:avLst/>
          </a:prstGeom>
          <a:noFill/>
        </p:spPr>
        <p:txBody>
          <a:bodyPr wrap="square" rtlCol="0">
            <a:spAutoFit/>
          </a:bodyPr>
          <a:lstStyle/>
          <a:p>
            <a:r>
              <a:rPr lang="es-ES" dirty="0" smtClean="0">
                <a:latin typeface="Calibri" panose="020F0502020204030204" pitchFamily="34" charset="0"/>
                <a:cs typeface="Calibri" panose="020F0502020204030204" pitchFamily="34" charset="0"/>
              </a:rPr>
              <a:t>El coeficiente presenta el signo esperado por H2 (mayor industrialización, menor </a:t>
            </a:r>
            <a:r>
              <a:rPr lang="es-ES" dirty="0" err="1" smtClean="0">
                <a:latin typeface="Calibri" panose="020F0502020204030204" pitchFamily="34" charset="0"/>
                <a:cs typeface="Calibri" panose="020F0502020204030204" pitchFamily="34" charset="0"/>
              </a:rPr>
              <a:t>Gini</a:t>
            </a:r>
            <a:r>
              <a:rPr lang="es-ES" dirty="0" smtClean="0">
                <a:latin typeface="Calibri" panose="020F0502020204030204" pitchFamily="34" charset="0"/>
                <a:cs typeface="Calibri" panose="020F0502020204030204" pitchFamily="34" charset="0"/>
              </a:rPr>
              <a:t>), pero no alcanza significancia al 5% (sí al 10%), y el modelo explica solo el 5,5% de la variación del </a:t>
            </a:r>
            <a:r>
              <a:rPr lang="es-ES" dirty="0" err="1" smtClean="0">
                <a:latin typeface="Calibri" panose="020F0502020204030204" pitchFamily="34" charset="0"/>
                <a:cs typeface="Calibri" panose="020F0502020204030204" pitchFamily="34" charset="0"/>
              </a:rPr>
              <a:t>Gini</a:t>
            </a:r>
            <a:r>
              <a:rPr lang="es-ES" dirty="0" smtClean="0">
                <a:latin typeface="Calibri" panose="020F0502020204030204" pitchFamily="34" charset="0"/>
                <a:cs typeface="Calibri" panose="020F0502020204030204" pitchFamily="34" charset="0"/>
              </a:rPr>
              <a:t>. El IC del coeficiente incluye al cero. Al excluir a China, el R² sube a 0,102 y el resultado pasa a ser significativo al 5% (ver </a:t>
            </a:r>
            <a:r>
              <a:rPr lang="es-ES" dirty="0" err="1" smtClean="0">
                <a:latin typeface="Calibri" panose="020F0502020204030204" pitchFamily="34" charset="0"/>
                <a:cs typeface="Calibri" panose="020F0502020204030204" pitchFamily="34" charset="0"/>
              </a:rPr>
              <a:t>slide</a:t>
            </a:r>
            <a:r>
              <a:rPr lang="es-ES" dirty="0" smtClean="0">
                <a:latin typeface="Calibri" panose="020F0502020204030204" pitchFamily="34" charset="0"/>
                <a:cs typeface="Calibri" panose="020F0502020204030204" pitchFamily="34" charset="0"/>
              </a:rPr>
              <a:t> </a:t>
            </a:r>
            <a:r>
              <a:rPr lang="es-ES" smtClean="0">
                <a:latin typeface="Calibri" panose="020F0502020204030204" pitchFamily="34" charset="0"/>
                <a:cs typeface="Calibri" panose="020F0502020204030204" pitchFamily="34" charset="0"/>
              </a:rPr>
              <a:t>12), </a:t>
            </a:r>
            <a:r>
              <a:rPr lang="es-ES" dirty="0" smtClean="0">
                <a:latin typeface="Calibri" panose="020F0502020204030204" pitchFamily="34" charset="0"/>
                <a:cs typeface="Calibri" panose="020F0502020204030204" pitchFamily="34" charset="0"/>
              </a:rPr>
              <a:t>la inclusión de ese caso debilita, en lugar de sostener, la evidencia a favor de H2.</a:t>
            </a:r>
            <a:endParaRPr lang="es-ES" dirty="0">
              <a:latin typeface="Calibri" panose="020F0502020204030204" pitchFamily="34" charset="0"/>
              <a:cs typeface="Calibri" panose="020F0502020204030204" pitchFamily="34" charset="0"/>
            </a:endParaRPr>
          </a:p>
        </p:txBody>
      </p:sp>
      <p:sp>
        <p:nvSpPr>
          <p:cNvPr id="10" name="CuadroTexto 9"/>
          <p:cNvSpPr txBox="1"/>
          <p:nvPr/>
        </p:nvSpPr>
        <p:spPr>
          <a:xfrm>
            <a:off x="6134100" y="1378987"/>
            <a:ext cx="1113959" cy="369332"/>
          </a:xfrm>
          <a:prstGeom prst="rect">
            <a:avLst/>
          </a:prstGeom>
          <a:noFill/>
        </p:spPr>
        <p:txBody>
          <a:bodyPr wrap="none" rtlCol="0">
            <a:spAutoFit/>
          </a:bodyPr>
          <a:lstStyle/>
          <a:p>
            <a:r>
              <a:rPr lang="es-ES" dirty="0" smtClean="0">
                <a:latin typeface="Calibri" panose="020F0502020204030204" pitchFamily="34" charset="0"/>
                <a:cs typeface="Calibri" panose="020F0502020204030204" pitchFamily="34" charset="0"/>
              </a:rPr>
              <a:t>Resultado</a:t>
            </a:r>
            <a:endParaRPr lang="es-E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71553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1850" y="0"/>
            <a:ext cx="10515600" cy="1171074"/>
          </a:xfrm>
        </p:spPr>
        <p:txBody>
          <a:bodyPr>
            <a:normAutofit/>
          </a:bodyPr>
          <a:lstStyle/>
          <a:p>
            <a:pPr algn="ctr"/>
            <a:r>
              <a:rPr lang="en-US" sz="3000" b="1" dirty="0" err="1" smtClean="0">
                <a:solidFill>
                  <a:srgbClr val="1A1A1A"/>
                </a:solidFill>
                <a:latin typeface="Cambria" panose="02040503050406030204" pitchFamily="18" charset="0"/>
                <a:cs typeface="Cambria" panose="02040503050406030204" pitchFamily="18" charset="0"/>
              </a:rPr>
              <a:t>Síntesis</a:t>
            </a:r>
            <a:r>
              <a:rPr lang="en-US" sz="3000" b="1" dirty="0" smtClean="0">
                <a:solidFill>
                  <a:srgbClr val="1A1A1A"/>
                </a:solidFill>
                <a:latin typeface="Cambria" panose="02040503050406030204" pitchFamily="18" charset="0"/>
                <a:cs typeface="Cambria" panose="02040503050406030204" pitchFamily="18" charset="0"/>
              </a:rPr>
              <a:t> </a:t>
            </a:r>
            <a:endParaRPr lang="es-ES" sz="3000" b="1" dirty="0">
              <a:solidFill>
                <a:srgbClr val="1A1A1A"/>
              </a:solidFill>
              <a:latin typeface="Cambria" panose="02040503050406030204" pitchFamily="18" charset="0"/>
              <a:cs typeface="Cambria" panose="02040503050406030204" pitchFamily="18" charset="0"/>
            </a:endParaRPr>
          </a:p>
        </p:txBody>
      </p:sp>
      <p:sp>
        <p:nvSpPr>
          <p:cNvPr id="3" name="Marcador de texto 2"/>
          <p:cNvSpPr>
            <a:spLocks noGrp="1"/>
          </p:cNvSpPr>
          <p:nvPr>
            <p:ph type="body" idx="1"/>
          </p:nvPr>
        </p:nvSpPr>
        <p:spPr>
          <a:xfrm>
            <a:off x="831850" y="2197767"/>
            <a:ext cx="10515600" cy="3891883"/>
          </a:xfrm>
        </p:spPr>
        <p:txBody>
          <a:bodyPr>
            <a:normAutofit/>
          </a:bodyPr>
          <a:lstStyle/>
          <a:p>
            <a:r>
              <a:rPr lang="es-ES" sz="1800" b="1" dirty="0" smtClean="0">
                <a:solidFill>
                  <a:schemeClr val="tx1"/>
                </a:solidFill>
                <a:latin typeface="Calibri" panose="020F0502020204030204" pitchFamily="34" charset="0"/>
                <a:cs typeface="Calibri" panose="020F0502020204030204" pitchFamily="34" charset="0"/>
              </a:rPr>
              <a:t>Respecto de la hipótesis principal:</a:t>
            </a:r>
            <a:r>
              <a:rPr lang="es-ES" sz="1800" dirty="0" smtClean="0">
                <a:solidFill>
                  <a:schemeClr val="tx1"/>
                </a:solidFill>
                <a:latin typeface="Calibri" panose="020F0502020204030204" pitchFamily="34" charset="0"/>
                <a:cs typeface="Calibri" panose="020F0502020204030204" pitchFamily="34" charset="0"/>
              </a:rPr>
              <a:t> el test de </a:t>
            </a:r>
            <a:r>
              <a:rPr lang="es-ES" sz="1800" dirty="0" err="1" smtClean="0">
                <a:solidFill>
                  <a:schemeClr val="tx1"/>
                </a:solidFill>
                <a:latin typeface="Calibri" panose="020F0502020204030204" pitchFamily="34" charset="0"/>
                <a:cs typeface="Calibri" panose="020F0502020204030204" pitchFamily="34" charset="0"/>
              </a:rPr>
              <a:t>Welch</a:t>
            </a:r>
            <a:r>
              <a:rPr lang="es-ES" sz="1800" dirty="0" smtClean="0">
                <a:solidFill>
                  <a:schemeClr val="tx1"/>
                </a:solidFill>
                <a:latin typeface="Calibri" panose="020F0502020204030204" pitchFamily="34" charset="0"/>
                <a:cs typeface="Calibri" panose="020F0502020204030204" pitchFamily="34" charset="0"/>
              </a:rPr>
              <a:t> no permite rechazar la hipótesis nula de igualdad de medias entre grupos. El análisis descriptivo de trayectorias indexadas, presentado en la </a:t>
            </a:r>
            <a:r>
              <a:rPr lang="es-ES" sz="1800" dirty="0" err="1" smtClean="0">
                <a:solidFill>
                  <a:schemeClr val="tx1"/>
                </a:solidFill>
                <a:latin typeface="Calibri" panose="020F0502020204030204" pitchFamily="34" charset="0"/>
                <a:cs typeface="Calibri" panose="020F0502020204030204" pitchFamily="34" charset="0"/>
              </a:rPr>
              <a:t>slide</a:t>
            </a:r>
            <a:r>
              <a:rPr lang="es-ES" sz="1800" dirty="0" smtClean="0">
                <a:solidFill>
                  <a:schemeClr val="tx1"/>
                </a:solidFill>
                <a:latin typeface="Calibri" panose="020F0502020204030204" pitchFamily="34" charset="0"/>
                <a:cs typeface="Calibri" panose="020F0502020204030204" pitchFamily="34" charset="0"/>
              </a:rPr>
              <a:t> 13, muestra además que, bajo la clasificación vigente, el grupo menos industrializado finaliza el período con un nivel de PBI per cápita indexado superior al del grupo más industrializado.</a:t>
            </a:r>
          </a:p>
          <a:p>
            <a:r>
              <a:rPr lang="es-ES" sz="1800" b="1" dirty="0" smtClean="0">
                <a:solidFill>
                  <a:schemeClr val="tx1"/>
                </a:solidFill>
                <a:latin typeface="Calibri" panose="020F0502020204030204" pitchFamily="34" charset="0"/>
                <a:cs typeface="Calibri" panose="020F0502020204030204" pitchFamily="34" charset="0"/>
              </a:rPr>
              <a:t>Respecto de la hipótesis complementaria: </a:t>
            </a:r>
            <a:r>
              <a:rPr lang="es-ES" sz="1800" dirty="0" smtClean="0">
                <a:solidFill>
                  <a:schemeClr val="tx1"/>
                </a:solidFill>
                <a:latin typeface="Calibri" panose="020F0502020204030204" pitchFamily="34" charset="0"/>
                <a:cs typeface="Calibri" panose="020F0502020204030204" pitchFamily="34" charset="0"/>
              </a:rPr>
              <a:t>el coeficiente estimado por la regresión presenta el signo esperado, pero no alcanza significancia estadística convencional, y el modelo explica una proporción reducida de la variación del coeficiente de </a:t>
            </a:r>
            <a:r>
              <a:rPr lang="es-ES" sz="1800" dirty="0" err="1" smtClean="0">
                <a:solidFill>
                  <a:schemeClr val="tx1"/>
                </a:solidFill>
                <a:latin typeface="Calibri" panose="020F0502020204030204" pitchFamily="34" charset="0"/>
                <a:cs typeface="Calibri" panose="020F0502020204030204" pitchFamily="34" charset="0"/>
              </a:rPr>
              <a:t>Gini</a:t>
            </a:r>
            <a:r>
              <a:rPr lang="es-ES" sz="1800" dirty="0" smtClean="0">
                <a:solidFill>
                  <a:schemeClr val="tx1"/>
                </a:solidFill>
                <a:latin typeface="Calibri" panose="020F0502020204030204" pitchFamily="34" charset="0"/>
                <a:cs typeface="Calibri" panose="020F0502020204030204" pitchFamily="34" charset="0"/>
              </a:rPr>
              <a:t>. Al excluir a China, la relación se fortalece considerablemente.</a:t>
            </a:r>
          </a:p>
          <a:p>
            <a:r>
              <a:rPr lang="es-ES" sz="1800" b="1" dirty="0" smtClean="0">
                <a:solidFill>
                  <a:schemeClr val="tx1"/>
                </a:solidFill>
                <a:latin typeface="Calibri" panose="020F0502020204030204" pitchFamily="34" charset="0"/>
                <a:cs typeface="Calibri" panose="020F0502020204030204" pitchFamily="34" charset="0"/>
              </a:rPr>
              <a:t>Respecto del cambio de criterio de clasificación: </a:t>
            </a:r>
            <a:r>
              <a:rPr lang="es-ES" sz="1800" dirty="0" smtClean="0">
                <a:solidFill>
                  <a:schemeClr val="tx1"/>
                </a:solidFill>
                <a:latin typeface="Calibri" panose="020F0502020204030204" pitchFamily="34" charset="0"/>
                <a:cs typeface="Calibri" panose="020F0502020204030204" pitchFamily="34" charset="0"/>
              </a:rPr>
              <a:t>la adopción del nivel de industrialización en 2023, en lugar de su variación histórica, resolvió el problema de circularidad señalado en una instancia previa del trabajo, aunque produjo resultados menos favorables a ambas hipótesis que los obtenidos bajo el criterio de clasificación anterior.</a:t>
            </a:r>
          </a:p>
          <a:p>
            <a:endParaRPr lang="es-ES" dirty="0"/>
          </a:p>
        </p:txBody>
      </p:sp>
    </p:spTree>
    <p:extLst>
      <p:ext uri="{BB962C8B-B14F-4D97-AF65-F5344CB8AC3E}">
        <p14:creationId xmlns:p14="http://schemas.microsoft.com/office/powerpoint/2010/main" val="1068380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1850" y="465221"/>
            <a:ext cx="10515600" cy="648451"/>
          </a:xfrm>
        </p:spPr>
        <p:txBody>
          <a:bodyPr>
            <a:normAutofit/>
          </a:bodyPr>
          <a:lstStyle/>
          <a:p>
            <a:pPr algn="ctr"/>
            <a:r>
              <a:rPr lang="en-US" sz="3000" b="1" dirty="0" smtClean="0">
                <a:solidFill>
                  <a:srgbClr val="1A1A1A"/>
                </a:solidFill>
                <a:latin typeface="Cambria" panose="02040503050406030204" pitchFamily="18" charset="0"/>
                <a:cs typeface="Cambria" panose="02040503050406030204" pitchFamily="18" charset="0"/>
              </a:rPr>
              <a:t>Conclusion</a:t>
            </a:r>
            <a:endParaRPr lang="es-ES" sz="3000" b="1" dirty="0">
              <a:solidFill>
                <a:srgbClr val="1A1A1A"/>
              </a:solidFill>
              <a:latin typeface="Cambria" panose="02040503050406030204" pitchFamily="18" charset="0"/>
              <a:cs typeface="Cambria" panose="02040503050406030204" pitchFamily="18" charset="0"/>
            </a:endParaRPr>
          </a:p>
        </p:txBody>
      </p:sp>
      <p:sp>
        <p:nvSpPr>
          <p:cNvPr id="3" name="Marcador de texto 2"/>
          <p:cNvSpPr>
            <a:spLocks noGrp="1"/>
          </p:cNvSpPr>
          <p:nvPr>
            <p:ph type="body" idx="1"/>
          </p:nvPr>
        </p:nvSpPr>
        <p:spPr>
          <a:xfrm>
            <a:off x="831850" y="1892968"/>
            <a:ext cx="10515600" cy="3218113"/>
          </a:xfrm>
        </p:spPr>
        <p:txBody>
          <a:bodyPr>
            <a:normAutofit/>
          </a:bodyPr>
          <a:lstStyle/>
          <a:p>
            <a:r>
              <a:rPr lang="es-ES" sz="1800" dirty="0" smtClean="0">
                <a:solidFill>
                  <a:schemeClr val="tx1"/>
                </a:solidFill>
                <a:latin typeface="Calibri" panose="020F0502020204030204" pitchFamily="34" charset="0"/>
                <a:cs typeface="Calibri" panose="020F0502020204030204" pitchFamily="34" charset="0"/>
              </a:rPr>
              <a:t>Con el criterio de clasificación corregido, basado en el nivel de industrialización alcanzado en 2023, la evidencia recabada no permite confirmar la hipótesis principal, la diferencia en el crecimiento del PBI per cápita entre el grupo más y el grupo menos industrializado no resulta estadísticamente significativa, y el panorama descriptivo no muestra una ventaja sostenida a favor del grupo más industrializado hacia el final del período analizado.</a:t>
            </a:r>
          </a:p>
          <a:p>
            <a:r>
              <a:rPr lang="es-ES" sz="1800" dirty="0" smtClean="0">
                <a:solidFill>
                  <a:schemeClr val="tx1"/>
                </a:solidFill>
                <a:latin typeface="Calibri" panose="020F0502020204030204" pitchFamily="34" charset="0"/>
                <a:cs typeface="Calibri" panose="020F0502020204030204" pitchFamily="34" charset="0"/>
              </a:rPr>
              <a:t>Respecto de la hipótesis complementaria, el coeficiente estimado presenta la dirección esperada, asociando mayor industrialización con menor desigualdad del ingreso, pero la relación resulta débil y no alcanza significancia estadística al nivel convencional del 5% la especificación principal del modelo.</a:t>
            </a:r>
          </a:p>
          <a:p>
            <a:r>
              <a:rPr lang="es-ES" sz="1800" dirty="0" smtClean="0">
                <a:solidFill>
                  <a:schemeClr val="tx1"/>
                </a:solidFill>
                <a:latin typeface="Calibri" panose="020F0502020204030204" pitchFamily="34" charset="0"/>
                <a:cs typeface="Calibri" panose="020F0502020204030204" pitchFamily="34" charset="0"/>
              </a:rPr>
              <a:t>En conjunto, el trabajo no logra sostener con solidez estadística la asociación planteada en ninguna de las dos hipótesis bajo el criterio de clasificación corregido, aunque sí aporta evidencia descriptiva orientada en la dirección esperada para la hipótesis complementaria, particularmente al excluir casos extremos como el de China.</a:t>
            </a:r>
          </a:p>
          <a:p>
            <a:endParaRPr lang="es-ES" dirty="0"/>
          </a:p>
        </p:txBody>
      </p:sp>
    </p:spTree>
    <p:extLst>
      <p:ext uri="{BB962C8B-B14F-4D97-AF65-F5344CB8AC3E}">
        <p14:creationId xmlns:p14="http://schemas.microsoft.com/office/powerpoint/2010/main" val="2022737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1850" y="442412"/>
            <a:ext cx="10515600" cy="584283"/>
          </a:xfrm>
        </p:spPr>
        <p:txBody>
          <a:bodyPr>
            <a:normAutofit/>
          </a:bodyPr>
          <a:lstStyle/>
          <a:p>
            <a:pPr algn="ctr"/>
            <a:r>
              <a:rPr lang="es-ES" sz="3000" b="1" dirty="0" smtClean="0">
                <a:solidFill>
                  <a:srgbClr val="1A1A1A"/>
                </a:solidFill>
                <a:latin typeface="Cambria" panose="02040503050406030204" pitchFamily="18" charset="0"/>
                <a:cs typeface="Cambria" panose="02040503050406030204" pitchFamily="18" charset="0"/>
              </a:rPr>
              <a:t>Pasos a seguir</a:t>
            </a:r>
            <a:endParaRPr lang="es-ES" sz="3000" b="1" dirty="0">
              <a:solidFill>
                <a:srgbClr val="1A1A1A"/>
              </a:solidFill>
              <a:latin typeface="Cambria" panose="02040503050406030204" pitchFamily="18" charset="0"/>
              <a:cs typeface="Cambria" panose="02040503050406030204" pitchFamily="18" charset="0"/>
            </a:endParaRPr>
          </a:p>
        </p:txBody>
      </p:sp>
      <p:sp>
        <p:nvSpPr>
          <p:cNvPr id="3" name="Marcador de texto 2"/>
          <p:cNvSpPr>
            <a:spLocks noGrp="1"/>
          </p:cNvSpPr>
          <p:nvPr>
            <p:ph type="body" idx="1"/>
          </p:nvPr>
        </p:nvSpPr>
        <p:spPr>
          <a:xfrm>
            <a:off x="831850" y="2021305"/>
            <a:ext cx="10515600" cy="3137903"/>
          </a:xfrm>
        </p:spPr>
        <p:txBody>
          <a:bodyPr>
            <a:normAutofit lnSpcReduction="10000"/>
          </a:bodyPr>
          <a:lstStyle/>
          <a:p>
            <a:r>
              <a:rPr lang="es-ES" sz="1900" dirty="0" smtClean="0">
                <a:solidFill>
                  <a:schemeClr val="tx1"/>
                </a:solidFill>
                <a:latin typeface="Calibri" panose="020F0502020204030204" pitchFamily="34" charset="0"/>
                <a:cs typeface="Calibri" panose="020F0502020204030204" pitchFamily="34" charset="0"/>
              </a:rPr>
              <a:t>Ampliar la cobertura temporal del coeficiente de </a:t>
            </a:r>
            <a:r>
              <a:rPr lang="es-ES" sz="1900" dirty="0" err="1" smtClean="0">
                <a:solidFill>
                  <a:schemeClr val="tx1"/>
                </a:solidFill>
                <a:latin typeface="Calibri" panose="020F0502020204030204" pitchFamily="34" charset="0"/>
                <a:cs typeface="Calibri" panose="020F0502020204030204" pitchFamily="34" charset="0"/>
              </a:rPr>
              <a:t>Gini</a:t>
            </a:r>
            <a:r>
              <a:rPr lang="es-ES" sz="1900" dirty="0" smtClean="0">
                <a:solidFill>
                  <a:schemeClr val="tx1"/>
                </a:solidFill>
                <a:latin typeface="Calibri" panose="020F0502020204030204" pitchFamily="34" charset="0"/>
                <a:cs typeface="Calibri" panose="020F0502020204030204" pitchFamily="34" charset="0"/>
              </a:rPr>
              <a:t> mediante fuentes complementarias, con el objetivo de reducir la dependencia de años de referencia distantes del dato real disponible, particularmente en los casos más extremos identificados en la </a:t>
            </a:r>
            <a:r>
              <a:rPr lang="es-ES" sz="1900" dirty="0" err="1" smtClean="0">
                <a:solidFill>
                  <a:schemeClr val="tx1"/>
                </a:solidFill>
                <a:latin typeface="Calibri" panose="020F0502020204030204" pitchFamily="34" charset="0"/>
                <a:cs typeface="Calibri" panose="020F0502020204030204" pitchFamily="34" charset="0"/>
              </a:rPr>
              <a:t>slide</a:t>
            </a:r>
            <a:r>
              <a:rPr lang="es-ES" sz="1900" dirty="0" smtClean="0">
                <a:solidFill>
                  <a:schemeClr val="tx1"/>
                </a:solidFill>
                <a:latin typeface="Calibri" panose="020F0502020204030204" pitchFamily="34" charset="0"/>
                <a:cs typeface="Calibri" panose="020F0502020204030204" pitchFamily="34" charset="0"/>
              </a:rPr>
              <a:t> 16.</a:t>
            </a:r>
          </a:p>
          <a:p>
            <a:r>
              <a:rPr lang="es-ES" sz="1900" dirty="0" smtClean="0">
                <a:solidFill>
                  <a:schemeClr val="tx1"/>
                </a:solidFill>
                <a:latin typeface="Calibri" panose="020F0502020204030204" pitchFamily="34" charset="0"/>
                <a:cs typeface="Calibri" panose="020F0502020204030204" pitchFamily="34" charset="0"/>
              </a:rPr>
              <a:t>Incorporar variables de control adicionales en el modelo de regresión, tales como la región geográfica o el nivel de ingreso del país, dado que la relación entre industrialización y desigualdad resulta débil en su especificación más simple.</a:t>
            </a:r>
          </a:p>
          <a:p>
            <a:r>
              <a:rPr lang="es-ES" sz="1900" dirty="0" smtClean="0">
                <a:solidFill>
                  <a:schemeClr val="tx1"/>
                </a:solidFill>
                <a:latin typeface="Calibri" panose="020F0502020204030204" pitchFamily="34" charset="0"/>
                <a:cs typeface="Calibri" panose="020F0502020204030204" pitchFamily="34" charset="0"/>
              </a:rPr>
              <a:t>Evaluar en qué medida la falta de significancia estadística en el test de </a:t>
            </a:r>
            <a:r>
              <a:rPr lang="es-ES" sz="1900" dirty="0" err="1" smtClean="0">
                <a:solidFill>
                  <a:schemeClr val="tx1"/>
                </a:solidFill>
                <a:latin typeface="Calibri" panose="020F0502020204030204" pitchFamily="34" charset="0"/>
                <a:cs typeface="Calibri" panose="020F0502020204030204" pitchFamily="34" charset="0"/>
              </a:rPr>
              <a:t>Welch</a:t>
            </a:r>
            <a:r>
              <a:rPr lang="es-ES" sz="1900" dirty="0" smtClean="0">
                <a:solidFill>
                  <a:schemeClr val="tx1"/>
                </a:solidFill>
                <a:latin typeface="Calibri" panose="020F0502020204030204" pitchFamily="34" charset="0"/>
                <a:cs typeface="Calibri" panose="020F0502020204030204" pitchFamily="34" charset="0"/>
              </a:rPr>
              <a:t> responde al tamaño reducido de la muestra, de siete y ocho observaciones por grupo, antes que a la ausencia real de una relación entre las variables.</a:t>
            </a:r>
          </a:p>
          <a:p>
            <a:r>
              <a:rPr lang="es-ES" sz="1900" dirty="0" smtClean="0">
                <a:solidFill>
                  <a:schemeClr val="tx1"/>
                </a:solidFill>
                <a:latin typeface="Calibri" panose="020F0502020204030204" pitchFamily="34" charset="0"/>
                <a:cs typeface="Calibri" panose="020F0502020204030204" pitchFamily="34" charset="0"/>
              </a:rPr>
              <a:t>Profundizar el análisis de valores atípicos mediante métodos de regresión robusta, que permitan ponderar en menor medida los casos extremos sin necesidad de excluirlos del análisis.</a:t>
            </a:r>
          </a:p>
          <a:p>
            <a:endParaRPr lang="es-ES" dirty="0"/>
          </a:p>
        </p:txBody>
      </p:sp>
    </p:spTree>
    <p:extLst>
      <p:ext uri="{BB962C8B-B14F-4D97-AF65-F5344CB8AC3E}">
        <p14:creationId xmlns:p14="http://schemas.microsoft.com/office/powerpoint/2010/main" val="1745800500"/>
      </p:ext>
    </p:extLst>
  </p:cSld>
  <p:clrMapOvr>
    <a:masterClrMapping/>
  </p:clrMapOvr>
</p:sld>
</file>

<file path=ppt/theme/theme1.xml><?xml version="1.0" encoding="utf-8"?>
<a:theme xmlns:a="http://schemas.openxmlformats.org/drawingml/2006/main" name="Tema de Office">
  <a:themeElements>
    <a:clrScheme name="Escala de grises">
      <a:dk1>
        <a:sysClr val="windowText" lastClr="000000"/>
      </a:dk1>
      <a:lt1>
        <a:sysClr val="window" lastClr="FFFFFF"/>
      </a:lt1>
      <a:dk2>
        <a:srgbClr val="1A1A1A"/>
      </a:dk2>
      <a:lt2>
        <a:srgbClr val="EDEDED"/>
      </a:lt2>
      <a:accent1>
        <a:srgbClr val="404040"/>
      </a:accent1>
      <a:accent2>
        <a:srgbClr val="6E6E6E"/>
      </a:accent2>
      <a:accent3>
        <a:srgbClr val="9C9C9C"/>
      </a:accent3>
      <a:accent4>
        <a:srgbClr val="C4C4C4"/>
      </a:accent4>
      <a:accent5>
        <a:srgbClr val="2B2B2B"/>
      </a:accent5>
      <a:accent6>
        <a:srgbClr val="828282"/>
      </a:accent6>
      <a:hlink>
        <a:srgbClr val="404040"/>
      </a:hlink>
      <a:folHlink>
        <a:srgbClr val="6E6E6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TM10001115[[fn=Paquete]]</Template>
  <TotalTime>180</TotalTime>
  <Words>3096</Words>
  <Application>Microsoft Office PowerPoint</Application>
  <PresentationFormat>Panorámica</PresentationFormat>
  <Paragraphs>271</Paragraphs>
  <Slides>20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Calibri</vt:lpstr>
      <vt:lpstr>Calibri Light</vt:lpstr>
      <vt:lpstr>Cambria</vt:lpstr>
      <vt:lpstr>Times New Roman</vt:lpstr>
      <vt:lpstr>Tema de Office</vt:lpstr>
      <vt:lpstr>Crecimiento con inclusión? El rol del desarrollo industrial en la desigualdad del ingreso (1970–2023)</vt:lpstr>
      <vt:lpstr>Hipótesis de trabajo</vt:lpstr>
      <vt:lpstr>Base de datos principal</vt:lpstr>
      <vt:lpstr>Variables utilizadas</vt:lpstr>
      <vt:lpstr>Base de datos auxiliar </vt:lpstr>
      <vt:lpstr>Panel de datos</vt:lpstr>
      <vt:lpstr>Estadísticas descriptivas generales</vt:lpstr>
      <vt:lpstr>Estadísticas descriptivas por grupo de industrialización</vt:lpstr>
      <vt:lpstr>Criterio de clasificación de países</vt:lpstr>
      <vt:lpstr>Datos faltantes</vt:lpstr>
      <vt:lpstr>Outliers</vt:lpstr>
      <vt:lpstr>Estadisticas con y sin outliers </vt:lpstr>
      <vt:lpstr>Trayectorias indexadas del PBI per capita (hipótesis principal) primer método</vt:lpstr>
      <vt:lpstr>Descomposición de tendencia y volatilidad (hipótesis principal) segundo método </vt:lpstr>
      <vt:lpstr>Test de Welch (hipótesis principal)</vt:lpstr>
      <vt:lpstr>Método exploratorio coeficiente de Gini y nivel de industrialización</vt:lpstr>
      <vt:lpstr>Regresión por mínimos cuadrados ordinarios (hipótesis complementaria)</vt:lpstr>
      <vt:lpstr>Síntesis </vt:lpstr>
      <vt:lpstr>Conclusion</vt:lpstr>
      <vt:lpstr>Pasos a seguir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Crecimiento con inclusión? El rol del desarrollo industrial en la desigualdad del ingreso (1970–2023)</dc:title>
  <dc:creator>Usuario</dc:creator>
  <cp:lastModifiedBy>Usuario</cp:lastModifiedBy>
  <cp:revision>18</cp:revision>
  <dcterms:created xsi:type="dcterms:W3CDTF">2026-06-22T00:05:49Z</dcterms:created>
  <dcterms:modified xsi:type="dcterms:W3CDTF">2026-06-24T04:03:57Z</dcterms:modified>
</cp:coreProperties>
</file>